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3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4V ..." userId="cb63ec986d86812e" providerId="LiveId" clId="{0872702A-717C-449D-BDA4-066A9CD70380}"/>
    <pc:docChg chg="undo custSel modSld">
      <pc:chgData name="V4V ..." userId="cb63ec986d86812e" providerId="LiveId" clId="{0872702A-717C-449D-BDA4-066A9CD70380}" dt="2026-05-26T15:43:46.635" v="17" actId="1076"/>
      <pc:docMkLst>
        <pc:docMk/>
      </pc:docMkLst>
      <pc:sldChg chg="addSp delSp modSp mod">
        <pc:chgData name="V4V ..." userId="cb63ec986d86812e" providerId="LiveId" clId="{0872702A-717C-449D-BDA4-066A9CD70380}" dt="2026-05-26T15:43:46.635" v="17" actId="1076"/>
        <pc:sldMkLst>
          <pc:docMk/>
          <pc:sldMk cId="0" sldId="270"/>
        </pc:sldMkLst>
        <pc:picChg chg="del">
          <ac:chgData name="V4V ..." userId="cb63ec986d86812e" providerId="LiveId" clId="{0872702A-717C-449D-BDA4-066A9CD70380}" dt="2026-05-26T15:42:45.448" v="10" actId="478"/>
          <ac:picMkLst>
            <pc:docMk/>
            <pc:sldMk cId="0" sldId="270"/>
            <ac:picMk id="4" creationId="{00000000-0000-0000-0000-000000000000}"/>
          </ac:picMkLst>
        </pc:picChg>
        <pc:picChg chg="add del">
          <ac:chgData name="V4V ..." userId="cb63ec986d86812e" providerId="LiveId" clId="{0872702A-717C-449D-BDA4-066A9CD70380}" dt="2026-05-26T15:42:04.047" v="1" actId="22"/>
          <ac:picMkLst>
            <pc:docMk/>
            <pc:sldMk cId="0" sldId="270"/>
            <ac:picMk id="7" creationId="{EAE8040C-090E-5B43-2739-93DFDCEFF296}"/>
          </ac:picMkLst>
        </pc:picChg>
        <pc:picChg chg="add mod">
          <ac:chgData name="V4V ..." userId="cb63ec986d86812e" providerId="LiveId" clId="{0872702A-717C-449D-BDA4-066A9CD70380}" dt="2026-05-26T15:43:46.635" v="17" actId="1076"/>
          <ac:picMkLst>
            <pc:docMk/>
            <pc:sldMk cId="0" sldId="270"/>
            <ac:picMk id="9" creationId="{176934C7-4796-DDFA-E1D9-E4C0C0FE07C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578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Σύστημα Διαχείρισης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Δανειστικής Βιβλιοθήκης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ΠΛΗΠΡΟ Project 31 - Hellenic Open University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474720"/>
            <a:ext cx="1097280" cy="54864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Παρουσίαση Έργου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Ακαδημαϊκό Έτος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 του έργου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Ολοκληρωμένη εφαρμογή διαχείρισης δανειστικής βιβλιοθήκης με κατάλογο βιβλίων, διαχείριση μελών, δανεισμούς, στατιστικά και προτάσεις βασισμένες σε ιστορικό και βαθμολογίες.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Κατάλογος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Βιβλία και κατηγορίες, αναζήτηση και φίλτρα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210312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96312" y="210312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9192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9192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Μέλη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79192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Πλήρες CRUD και ιστορικό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35424" y="210312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35424" y="210312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18304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Δανεισμοί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18304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Δανεισμός / επιστροφή με βαθμολόγηση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74536" y="210312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74536" y="210312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57416" y="22402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57416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Προτάσεις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57416" y="30632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ανά μέλος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Τεχνολογίες: Python 3 · Tkinter · SQLite 3 · matplotlib · pandas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Αρχιτεκτονική Layered (N-Tier)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ροή είναι από πάνω προς τα κάτω. Κάθε επίπεδο γνωρίζει μόνο το αμέσως από κάτω.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1234440"/>
            <a:ext cx="5760720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289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(Presentation)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453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37560" y="1234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Tkinter. Διαβάζει input από τον χρήστη, καλεί service. Δεν αγγίζει SQL.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1892808"/>
            <a:ext cx="5760720" cy="566928"/>
          </a:xfrm>
          <a:prstGeom prst="rect">
            <a:avLst/>
          </a:prstGeom>
          <a:solidFill>
            <a:srgbClr val="1470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1947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037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app/business_logic.py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8928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Facade. Χτίζει DTOs, καλεί validators, αναθέτει στο DAL.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2551176"/>
            <a:ext cx="5760720" cy="5669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97280" y="2606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8620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app/validation/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25511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rules: email, age, gender, ISBN κ.λπ. Πετάει custom exceptions.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3209544"/>
            <a:ext cx="5760720" cy="566928"/>
          </a:xfrm>
          <a:prstGeom prst="rect">
            <a:avLst/>
          </a:prstGeom>
          <a:solidFill>
            <a:srgbClr val="297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97280" y="32644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(DAL)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520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app/dal.py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3209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SQL μέσα σε transactions. Επιστρέφει DTOs.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0120" y="3867912"/>
            <a:ext cx="5760720" cy="566928"/>
          </a:xfrm>
          <a:prstGeom prst="rect">
            <a:avLst/>
          </a:prstGeom>
          <a:solidFill>
            <a:srgbClr val="3690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41788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sql/schema.sql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3867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3 - 5 πίνακες με FK constraints και CHECK rules.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Ροή κλήσεων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80960" y="1691640"/>
            <a:ext cx="146304" cy="24688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rot="8100000">
            <a:off x="7562088" y="4114800"/>
            <a:ext cx="384048" cy="329184"/>
          </a:xfrm>
          <a:prstGeom prst="rtTriangl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data flow. Καμία circular dependency. Κάθε επίπεδο αντικαθίσταται ανεξάρτητα.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Σχήμα Βάσης Δεδομένων</a:t>
            </a:r>
            <a:endParaRPr lang="en-US" sz="2600" dirty="0"/>
          </a:p>
        </p:txBody>
      </p:sp>
      <p:pic>
        <p:nvPicPr>
          <p:cNvPr id="3" name="Image 0" descr="/home/claude/diagrams/schema_slid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22773" y="914400"/>
            <a:ext cx="6498454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πίνακες · FK constraints · CHECK rules · UNIQUE(member_id, book_id) στα ratings.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Παράδειγμα Κώδικα: DTOs + Facade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GUI δίνει μόνο τα IDs. Η BusinessLogic χτίζει DTO, καλεί validator, αναθέτει στο DAL: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17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app/business_logic.py
</a:t>
            </a: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borrow_book(self, member_id, book_id):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dto = CreateLoanDTO(member_id=member_id, book_id=book_id)
    validate_new_loan(dto)        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raises if invalid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self.dal.borrow_book(dto)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σελίδα GUI απλά καλεί τη μέθοδο — μία γραμμή: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8229600" cy="1143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gui/Loans_Page.py
</a:t>
            </a: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borrow_book(self):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self.service.borrow_book(member_id, book_id)
    self.refresh_all()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pattern - decoupling GUI ↔ DAL μέσω stateless service interface.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Δανεισμός: Validation + Atomic Transaction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δανεισμός είναι σύνθετη πράξη: validation + INSERT loan + UPDATE available_copies. Όλα σε ένα transaction μέσω context manager.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3108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7955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app/dal.py
</a:t>
            </a: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borrow_book(self, dto: CreateLoanDTO) -&gt; LoanResponseDTO: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loan_date = date.today()
    due_date  = loan_date + timedelta(days=14)
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self.db.get_connection() as connection: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1) έλεγχος μέλους (active?) και βιβλίου (διαθέσιμο?)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2) INSERT loan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cursor = connection.execute(
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"INSERT INTO loans (member_id, book_id, loan_date,
                                due_date, status) VALUES (?,?,?,?,'borrowed')",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(dto.member_id, dto.book_id,
             loan_date.isoformat(), due_date.isoformat()))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3) UPDATE inventory στο ίδιο transaction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connection.execute(
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"UPDATE books SET available_copies = available_copies - 1
             WHERE id = ?", (dto.book_id,))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self.get_loan(cursor.lastrowid)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κάποιο βήμα αποτύχει, το transaction κάνει rollback — η βάση δεν αφήνει inconsistent state.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Αναζήτηση Βιβλίων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 query αναζητά ταυτόχρονα σε τίτλο, συγγραφέα, ISBN και όνομα κατηγορίας, και επιστρέφει και τη μέση βαθμολογία: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2697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7955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app/dal.py — search_books()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= f"%{keyword.strip()}%"
sql = (
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b.id, b.title, b.author, b.isbn, ... , "
    "r.avg_rating, r.rating_count "
    "FROM books b "
    "JOIN categories c ON c.id = b.category_id "
    "LEFT JOIN (SELECT book_id, AVG(rating) AS avg_rating, "
    "                  COUNT(*) AS rating_count "
    "           FROM ratings GROUP BY book_id) r ON r.book_id = b.id "
    "WHERE b.title LIKE ? OR b.author LIKE ? "
    "   OR b.isbn LIKE ?  OR c.name LIKE ? "
    "ORDER BY LOWER(b.title), b.id"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rows = connection.execute(sql,
            (pattern, pattern, pattern, pattern)).fetchall()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πεδία αναζήτησης σε ένα round-trip · παραμετροποιημένα queries · ταξινόμηση case-insensitive.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Σύστημα Βαθμολογιών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μέλος μπορεί να βαθμολογήσει ένα βιβλίο μία φορά. Η βαθμολόγηση εκτελείται με UPSERT — εισαγωγή ή ενημέρωση της υπάρχουσας: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app/dal.py — add_or_update_rating()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connection.execute(
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ratings (member_id, book_id, rating) "
    "VALUES (?, ?, ?) "
    "ON CONFLICT(member_id, book_id) DO UPDATE SET "
    "    rating = excluded.rating, "
    "    rated_at = CURRENT_TIMESTAMP",
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(member_id, book_id, rating))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συνθήκη </a:t>
            </a: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UNIQUE(member_id, book_id)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στο schema εγγυάται ότι ένα μέλος έχει το πολύ μία βαθμολογία ανά βιβλίο.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</a:t>
            </a: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DELETE CASCADE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η διαγραφή μέλους ή βιβλίου διαγράφει αυτόματα τις σχετικές βαθμολογίες.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βαθμολόγηση καλείται μέσα στο </a:t>
            </a: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return_book(loan_id, rating=N)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ένα atomic flow.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Μηχανισμός Προτάσεων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(κατηγοριακή προτίμηση × 1.5) + (μέση βαθμολογία του βιβλίου). Εξαιρούνται βιβλία που το μέλος έχει ήδη δανειστεί.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1546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7955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app/dal.py — recommend_books()
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b.id, b.title, b.author, b.category_id, c.name AS category_name,
       COALESCE(mc.category_loans, 0) AS category_loans,
       COALESCE(br.avg_rating,    0) AS avg_rating,
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(COALESCE(mc.category_loans, 0) * 1.5
        + COALESCE(br.avg_rating, 0)) AS score
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books b JOIN categories c ON c.id = b.category_id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(   -- πόσες φορές έχει δανειστεί το μέλος κάθε κατηγορία
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b.category_id, COUNT(*) AS category_loans
    FROM loans l JOIN books b ON b.id = l.book_id
    WHERE l.member_id = ?  GROUP BY b.category_id
) mc ON mc.category_id = b.category_id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(   -- μέση βαθμολογία ανά βιβλίο
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book_id, AVG(rating) AS avg_rating
    FROM ratings GROUP BY book_id
) br ON br.book_id = b.id
WHERE b.available_copies &gt; 0
  AND b.id NOT IN (SELECT book_id FROM loans WHERE member_id = ?)
ORDER BY score DESC, b.title LIMIT 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γίνονται σε ένα SQL query · δεν φορτώνουμε δεδομένα στη μνήμη για ταξινόμηση στη Python.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Αρχική Σελίδα (Dashboard)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868680"/>
            <a:ext cx="7772400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creenshots_cropped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914400"/>
            <a:ext cx="76809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διάγραμμα δανεισμών 7 ημερών, πίνακας οφειλών (overdue).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Κατάλογος Βιβλίων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868680"/>
            <a:ext cx="7772400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creenshots_cropped/book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914400"/>
            <a:ext cx="76809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Αναζήτηση σε τίτλο/συγγραφέα/ISBN/κατηγορία, φίλτρα και ταξινόμηση κατά βαθμολογία.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Διαχείριση Μελών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868680"/>
            <a:ext cx="7772400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creenshots_cropped/memb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914400"/>
            <a:ext cx="76809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Πλήρες CRUD μελών με auto-generated registration_number.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Δανεισμός Βιβλίων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868680"/>
            <a:ext cx="7772400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creenshots_cropped/loa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914400"/>
            <a:ext cx="76809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Επιλογή βιβλίου + μέλους με live filtering. Δανεισμός και επιστροφή σε ίδια σελίδα.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Προτάσεις Βιβλίων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868680"/>
            <a:ext cx="7772400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screenshots_cropped/recomm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914400"/>
            <a:ext cx="76809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ταξινομημένες κατά score. Άμεσος δανεισμός από εδώ.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Στατιστικά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868680"/>
            <a:ext cx="7772400" cy="3749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Πέντε ενότητες ανάλυσης — δανεισμοί ανά μέλος/κατηγορία/συγγραφέα/ηλικία/φύλο.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6934C7-4796-DDFA-E1D9-E4C0C0FE0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6" y="920044"/>
            <a:ext cx="7653867" cy="36463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Σύνοψη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επίπεδα αρχιτεκτονικής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92024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· Logic · Validation · DAL · DB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5544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πίνακες SQL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2648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FK constraints + transactions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192024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σελίδες GUI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20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Books, Loans, Members, 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612648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εξωτερικές εξαρτήσεις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2648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pandas · pillow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Ευχαριστούμε για την προσοχή σας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1591</Words>
  <Application>Microsoft Office PowerPoint</Application>
  <PresentationFormat>On-screen Show (16:9)</PresentationFormat>
  <Paragraphs>112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Σύστημα Διαχείρισης Δανειστικής Βιβλιοθήκης</dc:title>
  <dc:subject>PptxGenJS Presentation</dc:subject>
  <dc:creator>EAP ΠΛΗΠΡΟ Project 31</dc:creator>
  <cp:lastModifiedBy>V4V ...</cp:lastModifiedBy>
  <cp:revision>1</cp:revision>
  <dcterms:created xsi:type="dcterms:W3CDTF">2026-05-17T10:16:33Z</dcterms:created>
  <dcterms:modified xsi:type="dcterms:W3CDTF">2026-05-26T15:43:57Z</dcterms:modified>
</cp:coreProperties>
</file>