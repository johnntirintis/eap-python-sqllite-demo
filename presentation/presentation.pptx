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188720"/>
            <a:ext cx="7863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Σύστημα Διαχείρισης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Δανειστικής Βιβλιοθήκης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9260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ΠΛΗΠΡΟ Project 31 - Hellenic Open University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3474720"/>
            <a:ext cx="1097280" cy="54864"/>
          </a:xfrm>
          <a:prstGeom prst="rect">
            <a:avLst/>
          </a:prstGeom>
          <a:solidFill>
            <a:srgbClr val="5EEAD4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36576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Παρουσίαση Έργου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44805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Ακαδημαϊκό Έτος 2025-2026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Στόχος του έργου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Ολοκληρωμένη εφαρμογή διαχείρισης δανειστικής βιβλιοθήκης με κατάλογο βιβλίων, διαχείριση μελών, δανεισμούς, στατιστικά και προτάσεις βασισμένες σε ιστορικό και βαθμολογίες.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2103120"/>
            <a:ext cx="18745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2103120"/>
            <a:ext cx="73152" cy="15544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2402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6060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Κατάλογος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40080" y="30632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Βιβλία και κατηγορίες, αναζήτηση και φίλτρα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496312" y="2103120"/>
            <a:ext cx="18745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96312" y="2103120"/>
            <a:ext cx="73152" cy="15544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2679192" y="22402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679192" y="26060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Μέλη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2679192" y="30632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Πλήρες CRUD και ιστορικό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35424" y="2103120"/>
            <a:ext cx="18745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35424" y="2103120"/>
            <a:ext cx="73152" cy="15544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6" name="Text 14"/>
          <p:cNvSpPr/>
          <p:nvPr/>
        </p:nvSpPr>
        <p:spPr>
          <a:xfrm>
            <a:off x="4718304" y="22402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718304" y="26060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Δανεισμοί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18304" y="30632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Δανεισμός / επιστροφή με βαθμολόγηση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574536" y="2103120"/>
            <a:ext cx="18745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74536" y="2103120"/>
            <a:ext cx="73152" cy="15544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1" name="Text 19"/>
          <p:cNvSpPr/>
          <p:nvPr/>
        </p:nvSpPr>
        <p:spPr>
          <a:xfrm>
            <a:off x="6757416" y="22402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757416" y="26060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Προτάσεις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757416" y="30632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 ανά μέλος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Τεχνολογίες: Python 3 · Tkinter · SQLite 3 · matplotlib · pandas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Αρχιτεκτονική Layered (N-Tier)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ροή είναι από πάνω προς τα κάτω. Κάθε επίπεδο γνωρίζει μόνο το αμέσως από κάτω.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84048" cy="384048"/>
          </a:xfrm>
          <a:prstGeom prst="ellipse">
            <a:avLst/>
          </a:prstGeom>
          <a:solidFill>
            <a:srgbClr val="5EEAD4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60120" y="1234440"/>
            <a:ext cx="5760720" cy="566928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128930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 (Presentation)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97280" y="154533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BAE6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gui/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337560" y="123444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0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Tkinter. Διαβάζει input από τον χρήστη, καλεί service. Δεν αγγίζει SQL.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1984248"/>
            <a:ext cx="384048" cy="384048"/>
          </a:xfrm>
          <a:prstGeom prst="ellipse">
            <a:avLst/>
          </a:prstGeom>
          <a:solidFill>
            <a:srgbClr val="5EEAD4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960120" y="1892808"/>
            <a:ext cx="5760720" cy="566928"/>
          </a:xfrm>
          <a:prstGeom prst="rect">
            <a:avLst/>
          </a:prstGeom>
          <a:solidFill>
            <a:srgbClr val="14708F"/>
          </a:solidFill>
          <a:ln/>
        </p:spPr>
      </p:sp>
      <p:sp>
        <p:nvSpPr>
          <p:cNvPr id="13" name="Text 11"/>
          <p:cNvSpPr/>
          <p:nvPr/>
        </p:nvSpPr>
        <p:spPr>
          <a:xfrm>
            <a:off x="1097280" y="194767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Logic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97280" y="2203704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BAE6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app/business_logic.py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337560" y="1892808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0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Facade. Χτίζει DTOs, καλεί validators, αναθέτει στο DAL.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642616"/>
            <a:ext cx="384048" cy="384048"/>
          </a:xfrm>
          <a:prstGeom prst="ellipse">
            <a:avLst/>
          </a:prstGeom>
          <a:solidFill>
            <a:srgbClr val="5EEAD4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2642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60120" y="2551176"/>
            <a:ext cx="5760720" cy="56692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1097280" y="2606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97280" y="286207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BAE6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app/validation/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337560" y="2551176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0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rules: email, age, gender, ISBN κ.λπ. Πετάει custom exceptions.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3300984"/>
            <a:ext cx="384048" cy="384048"/>
          </a:xfrm>
          <a:prstGeom prst="ellipse">
            <a:avLst/>
          </a:prstGeom>
          <a:solidFill>
            <a:srgbClr val="5EEAD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3300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960120" y="3209544"/>
            <a:ext cx="5760720" cy="566928"/>
          </a:xfrm>
          <a:prstGeom prst="rect">
            <a:avLst/>
          </a:prstGeom>
          <a:solidFill>
            <a:srgbClr val="297A99"/>
          </a:solidFill>
          <a:ln/>
        </p:spPr>
      </p:sp>
      <p:sp>
        <p:nvSpPr>
          <p:cNvPr id="25" name="Text 23"/>
          <p:cNvSpPr/>
          <p:nvPr/>
        </p:nvSpPr>
        <p:spPr>
          <a:xfrm>
            <a:off x="1097280" y="326440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Access Layer (DAL)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097280" y="352044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BAE6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app/dal.py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337560" y="320954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0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Parameterised SQL μέσα σε transactions. Επιστρέφει DTOs.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7200" y="3959352"/>
            <a:ext cx="384048" cy="384048"/>
          </a:xfrm>
          <a:prstGeom prst="ellipse">
            <a:avLst/>
          </a:prstGeom>
          <a:solidFill>
            <a:srgbClr val="5EEAD4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3959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960120" y="3867912"/>
            <a:ext cx="5760720" cy="566928"/>
          </a:xfrm>
          <a:prstGeom prst="rect">
            <a:avLst/>
          </a:prstGeom>
          <a:solidFill>
            <a:srgbClr val="3690B5"/>
          </a:solidFill>
          <a:ln/>
        </p:spPr>
      </p:sp>
      <p:sp>
        <p:nvSpPr>
          <p:cNvPr id="31" name="Text 29"/>
          <p:cNvSpPr/>
          <p:nvPr/>
        </p:nvSpPr>
        <p:spPr>
          <a:xfrm>
            <a:off x="1097280" y="392277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097280" y="4178808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BAE6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sql/schema.sql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337560" y="386791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0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3 - 5 πίνακες με FK constraints και CHECK rules.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49440" y="1234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Ροή κλήσεων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7680960" y="1691640"/>
            <a:ext cx="146304" cy="24688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6" name="Shape 34"/>
          <p:cNvSpPr/>
          <p:nvPr/>
        </p:nvSpPr>
        <p:spPr>
          <a:xfrm rot="8100000">
            <a:off x="7562088" y="4114800"/>
            <a:ext cx="384048" cy="329184"/>
          </a:xfrm>
          <a:prstGeom prst="rtTriangle">
            <a:avLst/>
          </a:prstGeom>
          <a:solidFill>
            <a:srgbClr val="1C7293"/>
          </a:solidFill>
          <a:ln/>
        </p:spPr>
      </p:sp>
      <p:sp>
        <p:nvSpPr>
          <p:cNvPr id="37" name="Text 35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One-way data flow. Καμία circular dependency. Κάθε επίπεδο αντικαθίσταται ανεξάρτητα.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Σχήμα Βάσης Δεδομένων</a:t>
            </a:r>
            <a:endParaRPr lang="en-US" sz="2600" dirty="0"/>
          </a:p>
        </p:txBody>
      </p:sp>
      <p:pic>
        <p:nvPicPr>
          <p:cNvPr id="3" name="Image 0" descr="/home/claude/diagrams/schema_slid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322773" y="914400"/>
            <a:ext cx="6498454" cy="3657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πίνακες · FK constraints · CHECK rules · UNIQUE(member_id, book_id) στα ratings.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Παράδειγμα Κώδικα: DTOs + Facade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GUI δίνει μόνο τα IDs. Η BusinessLogic χτίζει DTO, καλεί validator, αναθέτει στο DAL: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4173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463040"/>
            <a:ext cx="7955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app/business_logic.py
</a:t>
            </a:r>
            <a:pPr indent="0" marL="0">
              <a:buNone/>
            </a:pP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borrow_book(self, member_id, book_id):
</a:t>
            </a:r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dto = CreateLoanDTO(member_id=member_id, book_id=book_id)
</a:t>
            </a:r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validate_new_loan(dto)        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raises if invalid
</a:t>
            </a:r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self.dal.borrow_book(dto)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926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σελίδα GUI απλά καλεί τη μέθοδο — μία γραμμή: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3291840"/>
            <a:ext cx="8229600" cy="11430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3383280"/>
            <a:ext cx="7955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gui/Loans_Page.py
</a:t>
            </a:r>
            <a:pPr indent="0" marL="0">
              <a:buNone/>
            </a:pP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borrow_book(self):
</a:t>
            </a:r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self.service.borrow_book(member_id, book_id)
</a:t>
            </a:r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self.refresh_all()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Facade pattern - decoupling GUI ↔ DAL μέσω stateless service interface.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Δανεισμός: Validation + Atomic Transaction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Ο δανεισμός είναι σύνθετη πράξη: validation + INSERT loan + UPDATE available_copies. Όλα σε ένα transaction μέσω context manager.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8229600" cy="3108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691640"/>
            <a:ext cx="79552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app/dal.py
</a:t>
            </a:r>
            <a:pPr indent="0" marL="0">
              <a:buNone/>
            </a:pPr>
            <a:r>
              <a:rPr lang="en-US" sz="10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borrow_book(self, dto: CreateLoanDTO) -&gt; LoanResponseDTO:
</a:t>
            </a:r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loan_date = date.today()
</a:t>
            </a:r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due_date  = loan_date + timedelta(days=14)
</a:t>
            </a:r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with self.db.get_connection() as connection:
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# 1) έλεγχος μέλους (active?) και βιβλίου (διαθέσιμο?)
</a:t>
            </a:r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...
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# 2) INSERT loan
</a:t>
            </a:r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cursor = connection.execute(
</a:t>
            </a:r>
            <a:pPr indent="0" marL="0">
              <a:buNone/>
            </a:pPr>
            <a:r>
              <a:rPr lang="en-US" sz="10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"INSERT INTO loans (member_id, book_id, loan_date,
</a:t>
            </a:r>
            <a:pPr indent="0" marL="0">
              <a:buNone/>
            </a:pPr>
            <a:r>
              <a:rPr lang="en-US" sz="10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     due_date, status) VALUES (?,?,?,?,'borrowed')",
</a:t>
            </a:r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(dto.member_id, dto.book_id,
</a:t>
            </a:r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loan_date.isoformat(), due_date.isoformat()))
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# 3) UPDATE inventory στο ίδιο transaction
</a:t>
            </a:r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connection.execute(
</a:t>
            </a:r>
            <a:pPr indent="0" marL="0">
              <a:buNone/>
            </a:pPr>
            <a:r>
              <a:rPr lang="en-US" sz="10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"UPDATE books SET available_copies = available_copies - 1
</a:t>
            </a:r>
            <a:pPr indent="0" marL="0">
              <a:buNone/>
            </a:pPr>
            <a:r>
              <a:rPr lang="en-US" sz="10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WHERE id = ?", (dto.book_id,))
</a:t>
            </a:r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self.get_loan(cursor.lastrowid)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Αν κάποιο βήμα αποτύχει, το transaction κάνει rollback — η βάση δεν αφήνει inconsistent state.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Αναζήτηση Βιβλίων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Ένα query αναζητά ταυτόχρονα σε τίτλο, συγγραφέα, ISBN και όνομα κατηγορίας, και επιστρέφει και τη μέση βαθμολογία: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8229600" cy="26974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691640"/>
            <a:ext cx="79552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app/dal.py — search_books()
</a:t>
            </a:r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pattern = f"%{keyword.strip()}%"
</a:t>
            </a:r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 = (
</a:t>
            </a:r>
            <a:pPr indent="0" marL="0">
              <a:buNone/>
            </a:pPr>
            <a:r>
              <a:rPr lang="en-US" sz="10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"SELECT b.id, b.title, b.author, b.isbn, ... , "
</a:t>
            </a:r>
            <a:pPr indent="0" marL="0">
              <a:buNone/>
            </a:pPr>
            <a:r>
              <a:rPr lang="en-US" sz="10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"r.avg_rating, r.rating_count "
</a:t>
            </a:r>
            <a:pPr indent="0" marL="0">
              <a:buNone/>
            </a:pPr>
            <a:r>
              <a:rPr lang="en-US" sz="10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"FROM books b "
</a:t>
            </a:r>
            <a:pPr indent="0" marL="0">
              <a:buNone/>
            </a:pPr>
            <a:r>
              <a:rPr lang="en-US" sz="10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"JOIN categories c ON c.id = b.category_id "
</a:t>
            </a:r>
            <a:pPr indent="0" marL="0">
              <a:buNone/>
            </a:pPr>
            <a:r>
              <a:rPr lang="en-US" sz="10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"LEFT JOIN (SELECT book_id, AVG(rating) AS avg_rating, "
</a:t>
            </a:r>
            <a:pPr indent="0" marL="0">
              <a:buNone/>
            </a:pPr>
            <a:r>
              <a:rPr lang="en-US" sz="10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                  COUNT(*) AS rating_count "
</a:t>
            </a:r>
            <a:pPr indent="0" marL="0">
              <a:buNone/>
            </a:pPr>
            <a:r>
              <a:rPr lang="en-US" sz="10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           FROM ratings GROUP BY book_id) r ON r.book_id = b.id "
</a:t>
            </a:r>
            <a:pPr indent="0" marL="0">
              <a:buNone/>
            </a:pPr>
            <a:r>
              <a:rPr lang="en-US" sz="10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"WHERE b.title LIKE ? OR b.author LIKE ? "
</a:t>
            </a:r>
            <a:pPr indent="0" marL="0">
              <a:buNone/>
            </a:pPr>
            <a:r>
              <a:rPr lang="en-US" sz="10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   OR b.isbn LIKE ?  OR c.name LIKE ? "
</a:t>
            </a:r>
            <a:pPr indent="0" marL="0">
              <a:buNone/>
            </a:pPr>
            <a:r>
              <a:rPr lang="en-US" sz="10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"ORDER BY LOWER(b.title), b.id"
</a:t>
            </a:r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 = connection.execute(sql,
</a:t>
            </a:r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(pattern, pattern, pattern, pattern)).fetchall()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πεδία αναζήτησης σε ένα round-trip · παραμετροποιημένα queries · ταξινόμηση case-insensitive.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Σύστημα Βαθμολογιών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Κάθε μέλος μπορεί να βαθμολογήσει ένα βιβλίο μία φορά. Η βαθμολόγηση εκτελείται με UPSERT — εισαγωγή ή ενημέρωση της υπάρχουσας: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8229600" cy="16916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783080"/>
            <a:ext cx="79552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app/dal.py — add_or_update_rating()
</a:t>
            </a:r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connection.execute(
</a:t>
            </a:r>
            <a:pPr indent="0" marL="0">
              <a:buNone/>
            </a:pPr>
            <a:r>
              <a:rPr lang="en-US" sz="10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"INSERT INTO ratings (member_id, book_id, rating) "
</a:t>
            </a:r>
            <a:pPr indent="0" marL="0">
              <a:buNone/>
            </a:pPr>
            <a:r>
              <a:rPr lang="en-US" sz="10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"VALUES (?, ?, ?) "
</a:t>
            </a:r>
            <a:pPr indent="0" marL="0">
              <a:buNone/>
            </a:pPr>
            <a:r>
              <a:rPr lang="en-US" sz="10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"ON CONFLICT(member_id, book_id) DO UPDATE SET "
</a:t>
            </a:r>
            <a:pPr indent="0" marL="0">
              <a:buNone/>
            </a:pPr>
            <a:r>
              <a:rPr lang="en-US" sz="10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    rating = excluded.rating, "
</a:t>
            </a:r>
            <a:pPr indent="0" marL="0">
              <a:buNone/>
            </a:pPr>
            <a:r>
              <a:rPr lang="en-US" sz="10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    rated_at = CURRENT_TIMESTAMP",
</a:t>
            </a:r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(member_id, book_id, rating))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συνθήκη </a:t>
            </a:r>
            <a:pPr indent="0" marL="0">
              <a:buNone/>
            </a:pPr>
            <a:r>
              <a:rPr lang="en-US" sz="12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UNIQUE(member_id, book_id)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στο schema εγγυάται ότι ένα μέλος έχει το πολύ μία βαθμολογία ανά βιβλίο.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Με </a:t>
            </a:r>
            <a:pPr indent="0" marL="0">
              <a:buNone/>
            </a:pPr>
            <a:r>
              <a:rPr lang="en-US" sz="12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 DELETE CASCADE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η διαγραφή μέλους ή βιβλίου διαγράφει αυτόματα τις σχετικές βαθμολογίες.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βαθμολόγηση καλείται μέσα στο </a:t>
            </a:r>
            <a:pPr indent="0" marL="0">
              <a:buNone/>
            </a:pPr>
            <a:r>
              <a:rPr lang="en-US" sz="120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return_book(loan_id, rating=N)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ένα atomic flow.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Μηχανισμός Προτάσεων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(κατηγοριακή προτίμηση × 1.5) + (μέση βαθμολογία του βιβλίου). Εξαιρούνται βιβλία που το μέλος έχει ήδη δανειστεί.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8229600" cy="31546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554480"/>
            <a:ext cx="795528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app/dal.py — recommend_books()
</a:t>
            </a:r>
            <a:pPr indent="0" marL="0">
              <a:buNone/>
            </a:pPr>
            <a:r>
              <a:rPr lang="en-US" sz="10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b.id, b.title, b.author, b.category_id, c.name AS category_name,
</a:t>
            </a:r>
            <a:pPr indent="0" marL="0">
              <a:buNone/>
            </a:pPr>
            <a:r>
              <a:rPr lang="en-US" sz="10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COALESCE(mc.category_loans, 0) AS category_loans,
</a:t>
            </a:r>
            <a:pPr indent="0" marL="0">
              <a:buNone/>
            </a:pPr>
            <a:r>
              <a:rPr lang="en-US" sz="10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COALESCE(br.avg_rating,    0) AS avg_rating,
</a:t>
            </a:r>
            <a:pPr indent="0" marL="0">
              <a:buNone/>
            </a:pPr>
            <a:r>
              <a:rPr lang="en-US" sz="10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(COALESCE(mc.category_loans, 0) * 1.5
</a:t>
            </a:r>
            <a:pPr indent="0" marL="0">
              <a:buNone/>
            </a:pPr>
            <a:r>
              <a:rPr lang="en-US" sz="10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+ COALESCE(br.avg_rating, 0)) AS score
</a:t>
            </a:r>
            <a:pPr indent="0" marL="0">
              <a:buNone/>
            </a:pPr>
            <a:r>
              <a:rPr lang="en-US" sz="10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books b JOIN categories c ON c.id = b.category_id
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LEFT JOIN (   -- πόσες φορές έχει δανειστεί το μέλος κάθε κατηγορία
</a:t>
            </a:r>
            <a:pPr indent="0" marL="0">
              <a:buNone/>
            </a:pPr>
            <a:r>
              <a:rPr lang="en-US" sz="10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SELECT b.category_id, COUNT(*) AS category_loans
</a:t>
            </a:r>
            <a:pPr indent="0" marL="0">
              <a:buNone/>
            </a:pPr>
            <a:r>
              <a:rPr lang="en-US" sz="10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FROM loans l JOIN books b ON b.id = l.book_id
</a:t>
            </a:r>
            <a:pPr indent="0" marL="0">
              <a:buNone/>
            </a:pPr>
            <a:r>
              <a:rPr lang="en-US" sz="10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WHERE l.member_id = ?  GROUP BY b.category_id
</a:t>
            </a:r>
            <a:pPr indent="0" marL="0">
              <a:buNone/>
            </a:pPr>
            <a:r>
              <a:rPr lang="en-US" sz="10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mc ON mc.category_id = b.category_id
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LEFT JOIN (   -- μέση βαθμολογία ανά βιβλίο
</a:t>
            </a:r>
            <a:pPr indent="0" marL="0">
              <a:buNone/>
            </a:pPr>
            <a:r>
              <a:rPr lang="en-US" sz="10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SELECT book_id, AVG(rating) AS avg_rating
</a:t>
            </a:r>
            <a:pPr indent="0" marL="0">
              <a:buNone/>
            </a:pPr>
            <a:r>
              <a:rPr lang="en-US" sz="10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FROM ratings GROUP BY book_id
</a:t>
            </a:r>
            <a:pPr indent="0" marL="0">
              <a:buNone/>
            </a:pPr>
            <a:r>
              <a:rPr lang="en-US" sz="10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br ON br.book_id = b.id
</a:t>
            </a:r>
            <a:pPr indent="0" marL="0">
              <a:buNone/>
            </a:pPr>
            <a:r>
              <a:rPr lang="en-US" sz="10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b.available_copies &gt; 0
</a:t>
            </a:r>
            <a:pPr indent="0" marL="0">
              <a:buNone/>
            </a:pPr>
            <a:r>
              <a:rPr lang="en-US" sz="10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AND b.id NOT IN (SELECT book_id FROM loans WHERE member_id = ?)
</a:t>
            </a:r>
            <a:pPr indent="0" marL="0">
              <a:buNone/>
            </a:pPr>
            <a:r>
              <a:rPr lang="en-US" sz="100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 BY score DESC, b.title LIMIT ?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Όλα γίνονται σε ένα SQL query · δεν φορτώνουμε δεδομένα στη μνήμη για ταξινόμηση στη Python.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Αρχική Σελίδα (Dashboard)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868680"/>
            <a:ext cx="7772400" cy="3749040"/>
          </a:xfrm>
          <a:prstGeom prst="rect">
            <a:avLst/>
          </a:prstGeom>
          <a:solidFill>
            <a:srgbClr val="E2E8F0"/>
          </a:solidFill>
          <a:ln/>
        </p:spPr>
      </p:sp>
      <p:pic>
        <p:nvPicPr>
          <p:cNvPr id="4" name="Image 0" descr="/home/claude/screenshots_cropped/dashbo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914400"/>
            <a:ext cx="7680960" cy="3657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cards, διάγραμμα δανεισμών 7 ημερών, πίνακας οφειλών (overdue).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Κατάλογος Βιβλίων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868680"/>
            <a:ext cx="7772400" cy="3749040"/>
          </a:xfrm>
          <a:prstGeom prst="rect">
            <a:avLst/>
          </a:prstGeom>
          <a:solidFill>
            <a:srgbClr val="E2E8F0"/>
          </a:solidFill>
          <a:ln/>
        </p:spPr>
      </p:sp>
      <p:pic>
        <p:nvPicPr>
          <p:cNvPr id="4" name="Image 0" descr="/home/claude/screenshots_cropped/book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914400"/>
            <a:ext cx="7680960" cy="3657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Αναζήτηση σε τίτλο/συγγραφέα/ISBN/κατηγορία, φίλτρα και ταξινόμηση κατά βαθμολογία.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Διαχείριση Μελών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868680"/>
            <a:ext cx="7772400" cy="3749040"/>
          </a:xfrm>
          <a:prstGeom prst="rect">
            <a:avLst/>
          </a:prstGeom>
          <a:solidFill>
            <a:srgbClr val="E2E8F0"/>
          </a:solidFill>
          <a:ln/>
        </p:spPr>
      </p:sp>
      <p:pic>
        <p:nvPicPr>
          <p:cNvPr id="4" name="Image 0" descr="/home/claude/screenshots_cropped/member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914400"/>
            <a:ext cx="7680960" cy="3657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Πλήρες CRUD μελών με auto-generated registration_number.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Δανεισμός Βιβλίων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868680"/>
            <a:ext cx="7772400" cy="3749040"/>
          </a:xfrm>
          <a:prstGeom prst="rect">
            <a:avLst/>
          </a:prstGeom>
          <a:solidFill>
            <a:srgbClr val="E2E8F0"/>
          </a:solidFill>
          <a:ln/>
        </p:spPr>
      </p:sp>
      <p:pic>
        <p:nvPicPr>
          <p:cNvPr id="4" name="Image 0" descr="/home/claude/screenshots_cropped/loa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914400"/>
            <a:ext cx="7680960" cy="3657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Επιλογή βιβλίου + μέλους με live filtering. Δανεισμός και επιστροφή σε ίδια σελίδα.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Προτάσεις Βιβλίων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868680"/>
            <a:ext cx="7772400" cy="3749040"/>
          </a:xfrm>
          <a:prstGeom prst="rect">
            <a:avLst/>
          </a:prstGeom>
          <a:solidFill>
            <a:srgbClr val="E2E8F0"/>
          </a:solidFill>
          <a:ln/>
        </p:spPr>
      </p:sp>
      <p:pic>
        <p:nvPicPr>
          <p:cNvPr id="4" name="Image 0" descr="/home/claude/screenshots_cropped/recommen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914400"/>
            <a:ext cx="7680960" cy="3657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 ταξινομημένες κατά score. Άμεσος δανεισμός από εδώ.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Στατιστικά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868680"/>
            <a:ext cx="7772400" cy="3749040"/>
          </a:xfrm>
          <a:prstGeom prst="rect">
            <a:avLst/>
          </a:prstGeom>
          <a:solidFill>
            <a:srgbClr val="E2E8F0"/>
          </a:solidFill>
          <a:ln/>
        </p:spPr>
      </p:sp>
      <p:pic>
        <p:nvPicPr>
          <p:cNvPr id="4" name="Image 0" descr="/home/claude/screenshots_cropped/statistic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914400"/>
            <a:ext cx="7680960" cy="3657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Πέντε ενότητες ανάλυσης — δανεισμοί ανά μέλος/κατηγορία/συγγραφέα/ηλικία/φύλο.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Σύνοψη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48640" cy="54864"/>
          </a:xfrm>
          <a:prstGeom prst="rect">
            <a:avLst/>
          </a:prstGeom>
          <a:solidFill>
            <a:srgbClr val="5EEAD4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55448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1920240" y="1645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επίπεδα αρχιτεκτονικής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920240" y="21488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 · Logic · Validation · DAL · DB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663440" y="155448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6400" dirty="0"/>
          </a:p>
        </p:txBody>
      </p:sp>
      <p:sp>
        <p:nvSpPr>
          <p:cNvPr id="8" name="Text 6"/>
          <p:cNvSpPr/>
          <p:nvPr/>
        </p:nvSpPr>
        <p:spPr>
          <a:xfrm>
            <a:off x="6126480" y="1645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πίνακες SQL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126480" y="21488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Με FK constraints + transactions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6400" dirty="0"/>
          </a:p>
        </p:txBody>
      </p:sp>
      <p:sp>
        <p:nvSpPr>
          <p:cNvPr id="11" name="Text 9"/>
          <p:cNvSpPr/>
          <p:nvPr/>
        </p:nvSpPr>
        <p:spPr>
          <a:xfrm>
            <a:off x="1920240" y="3108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σελίδες GUI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920240" y="36118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Dashboard, Books, Loans, Members, …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663440" y="301752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6400" dirty="0"/>
          </a:p>
        </p:txBody>
      </p:sp>
      <p:sp>
        <p:nvSpPr>
          <p:cNvPr id="14" name="Text 12"/>
          <p:cNvSpPr/>
          <p:nvPr/>
        </p:nvSpPr>
        <p:spPr>
          <a:xfrm>
            <a:off x="6126480" y="3108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εξωτερικές εξαρτήσεις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126480" y="36118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matplotlib · pandas · pillow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Ευχαριστούμε για την προσοχή σας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Σύστημα Διαχείρισης Δανειστικής Βιβλιοθήκης</dc:title>
  <dc:subject>PptxGenJS Presentation</dc:subject>
  <dc:creator>EAP ΠΛΗΠΡΟ Project 31</dc:creator>
  <cp:lastModifiedBy>EAP ΠΛΗΠΡΟ Project 31</cp:lastModifiedBy>
  <cp:revision>1</cp:revision>
  <dcterms:created xsi:type="dcterms:W3CDTF">2026-05-17T10:16:33Z</dcterms:created>
  <dcterms:modified xsi:type="dcterms:W3CDTF">2026-05-17T10:16:33Z</dcterms:modified>
</cp:coreProperties>
</file>