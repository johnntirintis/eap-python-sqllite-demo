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2" r:id="rId11"/>
    <p:sldId id="274" r:id="rId12"/>
    <p:sldId id="273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69" d="100"/>
          <a:sy n="169" d="100"/>
        </p:scale>
        <p:origin x="138" y="2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4V ..." userId="cb63ec986d86812e" providerId="LiveId" clId="{0872702A-717C-449D-BDA4-066A9CD70380}"/>
    <pc:docChg chg="undo custSel modSld">
      <pc:chgData name="V4V ..." userId="cb63ec986d86812e" providerId="LiveId" clId="{0872702A-717C-449D-BDA4-066A9CD70380}" dt="2026-05-26T15:43:46.635" v="17" actId="1076"/>
      <pc:docMkLst>
        <pc:docMk/>
      </pc:docMkLst>
      <pc:sldChg chg="addSp delSp modSp mod">
        <pc:chgData name="V4V ..." userId="cb63ec986d86812e" providerId="LiveId" clId="{0872702A-717C-449D-BDA4-066A9CD70380}" dt="2026-05-26T15:43:46.635" v="17" actId="1076"/>
        <pc:sldMkLst>
          <pc:docMk/>
          <pc:sldMk cId="0" sldId="270"/>
        </pc:sldMkLst>
        <pc:picChg chg="del">
          <ac:chgData name="V4V ..." userId="cb63ec986d86812e" providerId="LiveId" clId="{0872702A-717C-449D-BDA4-066A9CD70380}" dt="2026-05-26T15:42:45.448" v="10" actId="478"/>
          <ac:picMkLst>
            <pc:docMk/>
            <pc:sldMk cId="0" sldId="270"/>
            <ac:picMk id="4" creationId="{00000000-0000-0000-0000-000000000000}"/>
          </ac:picMkLst>
        </pc:picChg>
        <pc:picChg chg="add del">
          <ac:chgData name="V4V ..." userId="cb63ec986d86812e" providerId="LiveId" clId="{0872702A-717C-449D-BDA4-066A9CD70380}" dt="2026-05-26T15:42:04.047" v="1" actId="22"/>
          <ac:picMkLst>
            <pc:docMk/>
            <pc:sldMk cId="0" sldId="270"/>
            <ac:picMk id="7" creationId="{EAE8040C-090E-5B43-2739-93DFDCEFF296}"/>
          </ac:picMkLst>
        </pc:picChg>
        <pc:picChg chg="add mod">
          <ac:chgData name="V4V ..." userId="cb63ec986d86812e" providerId="LiveId" clId="{0872702A-717C-449D-BDA4-066A9CD70380}" dt="2026-05-26T15:43:46.635" v="17" actId="1076"/>
          <ac:picMkLst>
            <pc:docMk/>
            <pc:sldMk cId="0" sldId="270"/>
            <ac:picMk id="9" creationId="{176934C7-4796-DDFA-E1D9-E4C0C0FE07CF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255785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18872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Σύστημα Διαχείρισης</a:t>
            </a:r>
            <a:endParaRPr lang="en-US" sz="4000" dirty="0"/>
          </a:p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Δανειστικής Βιβλιοθήκης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9260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ΠΛΗΠΡΟ Project 31 - Hellenic Open University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3474720"/>
            <a:ext cx="1097280" cy="54864"/>
          </a:xfrm>
          <a:prstGeom prst="rect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Παρουσίαση Έργου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44805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Ακαδημαϊκό Έτος 2025-2026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Στόχος του έργου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Ολοκληρωμένη εφαρμογή διαχείρισης δανειστικής βιβλιοθήκης με κατάλογο βιβλίων, διαχείριση μελών, δανεισμούς, στατιστικά και προτάσεις βασισμένες σε ιστορικό και βαθμολογίες.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2103120"/>
            <a:ext cx="18745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73152" cy="15544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22402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6060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Κατάλογος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40080" y="30632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Βιβλία και κατηγορίες, αναζήτηση και φίλτρα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496312" y="2103120"/>
            <a:ext cx="18745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496312" y="2103120"/>
            <a:ext cx="73152" cy="15544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679192" y="22402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679192" y="26060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Μέλη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2679192" y="30632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Πλήρες CRUD και ιστορικό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35424" y="2103120"/>
            <a:ext cx="18745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535424" y="2103120"/>
            <a:ext cx="73152" cy="15544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718304" y="22402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718304" y="26060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Δανεισμοί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18304" y="30632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Δανεισμός / επιστροφή με βαθμολόγηση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574536" y="2103120"/>
            <a:ext cx="18745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574536" y="2103120"/>
            <a:ext cx="73152" cy="15544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757416" y="22402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757416" y="26060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Προτάσεις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757416" y="30632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 ανά μέλος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Τεχνολογίες: Python 3 · Tkinter · SQLite 3 · matplotlib · pandas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Αρχιτεκτονική Layered (N-Tier)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ροή είναι από πάνω προς τα κάτω. Κάθε επίπεδο γνωρίζει μόνο το αμέσως από κάτω.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84048" cy="384048"/>
          </a:xfrm>
          <a:prstGeom prst="ellipse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60120" y="1234440"/>
            <a:ext cx="5760720" cy="566928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97280" y="128930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 (Presentation)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97280" y="154533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BAE6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gui/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337560" y="123444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Tkinter. Διαβάζει input από τον χρήστη, καλεί service. Δεν αγγίζει SQL.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984248"/>
            <a:ext cx="384048" cy="384048"/>
          </a:xfrm>
          <a:prstGeom prst="ellipse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60120" y="1892808"/>
            <a:ext cx="5760720" cy="566928"/>
          </a:xfrm>
          <a:prstGeom prst="rect">
            <a:avLst/>
          </a:prstGeom>
          <a:solidFill>
            <a:srgbClr val="14708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97280" y="194767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Logic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97280" y="220370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BAE6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app/business_logic.py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337560" y="189280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Facade. Χτίζει DTOs, καλεί validators, αναθέτει στο DAL.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642616"/>
            <a:ext cx="384048" cy="384048"/>
          </a:xfrm>
          <a:prstGeom prst="ellipse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7200" y="2642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60120" y="2551176"/>
            <a:ext cx="5760720" cy="56692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097280" y="2606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97280" y="286207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BAE6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app/validation/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337560" y="2551176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rules: email, age, gender, ISBN κ.λπ. Πετάει custom exceptions.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300984"/>
            <a:ext cx="384048" cy="384048"/>
          </a:xfrm>
          <a:prstGeom prst="ellipse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57200" y="3300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960120" y="3209544"/>
            <a:ext cx="5760720" cy="566928"/>
          </a:xfrm>
          <a:prstGeom prst="rect">
            <a:avLst/>
          </a:prstGeom>
          <a:solidFill>
            <a:srgbClr val="297A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097280" y="326440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Access Layer (DAL)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097280" y="352044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BAE6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app/dal.py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337560" y="320954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Parameterised SQL μέσα σε transactions. Επιστρέφει DTOs.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3959352"/>
            <a:ext cx="384048" cy="384048"/>
          </a:xfrm>
          <a:prstGeom prst="ellipse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57200" y="3959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960120" y="3867912"/>
            <a:ext cx="5760720" cy="566928"/>
          </a:xfrm>
          <a:prstGeom prst="rect">
            <a:avLst/>
          </a:prstGeom>
          <a:solidFill>
            <a:srgbClr val="3690B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1097280" y="392277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097280" y="4178808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BAE6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sql/schema.sql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337560" y="386791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3 - 5 πίνακες με FK constraints και CHECK rules.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49440" y="1234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Ροή κλήσεων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7680960" y="1691640"/>
            <a:ext cx="146304" cy="24688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 rot="8100000">
            <a:off x="7562088" y="4114800"/>
            <a:ext cx="384048" cy="329184"/>
          </a:xfrm>
          <a:prstGeom prst="rtTriangl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One-way data flow. Καμία circular dependency. Κάθε επίπεδο αντικαθίσταται ανεξάρτητα.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Σχήμα Βάσης Δεδομένων</a:t>
            </a:r>
            <a:endParaRPr lang="en-US" sz="2600" dirty="0"/>
          </a:p>
        </p:txBody>
      </p:sp>
      <p:pic>
        <p:nvPicPr>
          <p:cNvPr id="3" name="Image 0" descr="/home/claude/diagrams/schema_slid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322773" y="914400"/>
            <a:ext cx="6498454" cy="3657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πίνακες · FK constraints · CHECK rules · UNIQUE(member_id, book_id) στα ratings.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Παράδειγμα Κώδικα: DTOs + Facade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GUI δίνει μόνο τα IDs. Η BusinessLogic χτίζει DTO, καλεί validator, αναθέτει στο DAL: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41732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4360" y="1463040"/>
            <a:ext cx="7955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app/business_logic.py
</a:t>
            </a: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borrow_book(self, member_id, book_id):
</a:t>
            </a: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dto = CreateLoanDTO(member_id=member_id, book_id=book_id)
    validate_new_loan(dto)        </a:t>
            </a: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raises if invalid
</a:t>
            </a: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self.dal.borrow_book(dto)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926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σελίδα GUI απλά καλεί τη μέθοδο — μία γραμμή: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3291840"/>
            <a:ext cx="8229600" cy="114300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94360" y="3383280"/>
            <a:ext cx="7955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gui/Loans_Page.py
</a:t>
            </a: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borrow_book(self):
</a:t>
            </a: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self.service.borrow_book(member_id, book_id)
    self.refresh_all()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Facade pattern - decoupling GUI ↔ DAL μέσω stateless service interface.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Δανεισμός: Validation + Atomic Transaction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 δανεισμός είναι σύνθετη πράξη: validation + INSERT loan + UPDATE available_copies. Όλα σε ένα transaction μέσω context manager.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8229600" cy="310896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4360" y="1691640"/>
            <a:ext cx="7955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app/dal.py
</a:t>
            </a: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borrow_book(self, dto: CreateLoanDTO) -&gt; LoanResponseDTO:
</a:t>
            </a: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loan_date = date.today()
    due_date  = loan_date + timedelta(days=14)
</a:t>
            </a:r>
            <a:r>
              <a:rPr lang="en-US" sz="10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with self.db.get_connection() as connection:
</a:t>
            </a: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# 1) έλεγχος μέλους (active?) και βιβλίου (διαθέσιμο?)
</a:t>
            </a: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...
</a:t>
            </a: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# 2) INSERT loan
</a:t>
            </a: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cursor = connection.execute(
</a:t>
            </a:r>
            <a:r>
              <a:rPr lang="en-US" sz="10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"INSERT INTO loans (member_id, book_id, loan_date,
                                due_date, status) VALUES (?,?,?,?,'borrowed')",
</a:t>
            </a: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(dto.member_id, dto.book_id,
             loan_date.isoformat(), due_date.isoformat()))
</a:t>
            </a: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# 3) UPDATE inventory στο ίδιο transaction
</a:t>
            </a: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connection.execute(
</a:t>
            </a:r>
            <a:r>
              <a:rPr lang="en-US" sz="10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"UPDATE books SET available_copies = available_copies - 1
             WHERE id = ?", (dto.book_id,))
</a:t>
            </a: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self.get_loan(cursor.lastrowid)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Αν κάποιο βήμα αποτύχει, το transaction κάνει rollback — η βάση δεν αφήνει inconsistent state.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Αναζήτηση Βιβλίων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Ένα query αναζητά ταυτόχρονα σε τίτλο, συγγραφέα, ISBN και όνομα κατηγορίας, και επιστρέφει και τη μέση βαθμολογία: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8229600" cy="269748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4360" y="1691640"/>
            <a:ext cx="79552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app/dal.py — search_books()
</a:t>
            </a: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pattern = f"%{keyword.strip()}%"
sql = (
</a:t>
            </a:r>
            <a:r>
              <a:rPr lang="en-US" sz="10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"SELECT b.id, b.title, b.author, b.isbn, ... , "
    "r.avg_rating, r.rating_count "
    "FROM books b "
    "JOIN categories c ON c.id = b.category_id "
    "LEFT JOIN (SELECT book_id, AVG(rating) AS avg_rating, "
    "                  COUNT(*) AS rating_count "
    "           FROM ratings GROUP BY book_id) r ON r.book_id = b.id "
    "WHERE b.title LIKE ? OR b.author LIKE ? "
    "   OR b.isbn LIKE ?  OR c.name LIKE ? "
    "ORDER BY LOWER(b.title), b.id"
</a:t>
            </a: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rows = connection.execute(sql,
            (pattern, pattern, pattern, pattern)).fetchall()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πεδία αναζήτησης σε ένα round-trip · παραμετροποιημένα queries · ταξινόμηση case-insensitive.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Σύστημα Βαθμολογιών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Κάθε μέλος μπορεί να βαθμολογήσει ένα βιβλίο μία φορά. Η βαθμολόγηση εκτελείται με UPSERT — εισαγωγή ή ενημέρωση της υπάρχουσας: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8229600" cy="169164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4360" y="1783080"/>
            <a:ext cx="79552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app/dal.py — add_or_update_rating()
</a:t>
            </a: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connection.execute(
</a:t>
            </a:r>
            <a:r>
              <a:rPr lang="en-US" sz="10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"INSERT INTO ratings (member_id, book_id, rating) "
    "VALUES (?, ?, ?) "
    "ON CONFLICT(member_id, book_id) DO UPDATE SET "
    "    rating = excluded.rating, "
    "    rated_at = CURRENT_TIMESTAMP",
</a:t>
            </a: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(member_id, book_id, rating))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συνθήκη </a:t>
            </a:r>
            <a:r>
              <a:rPr lang="en-US" sz="12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UNIQUE(member_id, book_id)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στο schema εγγυάται ότι ένα μέλος έχει το πολύ μία βαθμολογία ανά βιβλίο.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Με </a:t>
            </a:r>
            <a:r>
              <a:rPr lang="en-US" sz="12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 DELETE CASCADE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η διαγραφή μέλους ή βιβλίου διαγράφει αυτόματα τις σχετικές βαθμολογίες.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βαθμολόγηση καλείται μέσα στο </a:t>
            </a:r>
            <a:r>
              <a:rPr lang="en-US" sz="12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return_book(loan_id, rating=N)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ένα atomic flow.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Μηχανισμός Προτάσεων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(κατηγοριακή προτίμηση × 1.5) + (μέση βαθμολογία του βιβλίου). Εξαιρούνται βιβλία που το μέλος έχει ήδη δανειστεί.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8229600" cy="315468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4360" y="1554480"/>
            <a:ext cx="795528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app/dal.py — recommend_books()
</a:t>
            </a:r>
            <a:r>
              <a:rPr lang="en-US" sz="10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b.id, b.title, b.author, b.category_id, c.name AS category_name,
       COALESCE(mc.category_loans, 0) AS category_loans,
       COALESCE(br.avg_rating,    0) AS avg_rating,
</a:t>
            </a: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(COALESCE(mc.category_loans, 0) * 1.5
        + COALESCE(br.avg_rating, 0)) AS score
</a:t>
            </a:r>
            <a:r>
              <a:rPr lang="en-US" sz="10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books b JOIN categories c ON c.id = b.category_id
</a:t>
            </a: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LEFT JOIN (   -- πόσες φορές έχει δανειστεί το μέλος κάθε κατηγορία
</a:t>
            </a:r>
            <a:r>
              <a:rPr lang="en-US" sz="10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SELECT b.category_id, COUNT(*) AS category_loans
    FROM loans l JOIN books b ON b.id = l.book_id
    WHERE l.member_id = ?  GROUP BY b.category_id
) mc ON mc.category_id = b.category_id
</a:t>
            </a: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LEFT JOIN (   -- μέση βαθμολογία ανά βιβλίο
</a:t>
            </a:r>
            <a:r>
              <a:rPr lang="en-US" sz="10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SELECT book_id, AVG(rating) AS avg_rating
    FROM ratings GROUP BY book_id
) br ON br.book_id = b.id
WHERE b.available_copies &gt; 0
  AND b.id NOT IN (SELECT book_id FROM loans WHERE member_id = ?)
ORDER BY score DESC, b.title LIMIT ?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Όλα γίνονται σε ένα SQL query · δεν φορτώνουμε δεδομένα στη μνήμη για ταξινόμηση στη Python.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BAD9DAF-B8A4-6C70-A890-BC9A92F7334B}"/>
              </a:ext>
            </a:extLst>
          </p:cNvPr>
          <p:cNvSpPr txBox="1"/>
          <p:nvPr/>
        </p:nvSpPr>
        <p:spPr>
          <a:xfrm>
            <a:off x="457200" y="1007911"/>
            <a:ext cx="8054622" cy="2492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Το γραφικό περιβάλλον της εφαρμογής υλοποιείται αποκλειστικά με 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Tkinter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l-GR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και ακολουθεί αυστηρά το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Layered Architecture Pattern. </a:t>
            </a:r>
            <a:r>
              <a:rPr lang="el-GR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Το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GUI </a:t>
            </a:r>
            <a:r>
              <a:rPr lang="el-GR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αποτελεί το ανώτερο επίπεδο (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Layer 1) </a:t>
            </a:r>
            <a:r>
              <a:rPr lang="el-GR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και δεν έχει καμία γνώση για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SQL, DTOs </a:t>
            </a:r>
            <a:r>
              <a:rPr lang="el-GR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ή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validators. </a:t>
            </a:r>
            <a:r>
              <a:rPr lang="el-GR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Όλη η επικοινωνία γίνεται μέσω της 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BusinessLogic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 (Facade).</a:t>
            </a:r>
          </a:p>
          <a:p>
            <a:endParaRPr lang="en-US" sz="1200" dirty="0">
              <a:solidFill>
                <a:srgbClr val="1E293B"/>
              </a:solidFill>
              <a:latin typeface="Calibri" pitchFamily="34" charset="0"/>
              <a:cs typeface="Calibri" pitchFamily="34" charset="-120"/>
            </a:endParaRPr>
          </a:p>
          <a:p>
            <a:r>
              <a:rPr lang="el-GR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Η σχεδίαση του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Frontend </a:t>
            </a:r>
            <a:r>
              <a:rPr lang="el-GR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βασίζεται σε τέσσερις βασικές αρχές:</a:t>
            </a:r>
          </a:p>
          <a:p>
            <a:pPr marL="228600" indent="-228600">
              <a:buFont typeface="+mj-lt"/>
              <a:buAutoNum type="arabicPeriod"/>
            </a:pPr>
            <a:endParaRPr lang="el-GR" sz="1200" b="1" dirty="0">
              <a:solidFill>
                <a:srgbClr val="1E293B"/>
              </a:solidFill>
              <a:latin typeface="Calibri" pitchFamily="34" charset="0"/>
              <a:cs typeface="Calibri" pitchFamily="34" charset="-120"/>
            </a:endParaRPr>
          </a:p>
          <a:p>
            <a:pPr marL="228600" indent="-228600">
              <a:buFont typeface="+mj-lt"/>
              <a:buAutoNum type="arabicPeriod"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Single Responsibility </a:t>
            </a:r>
            <a:r>
              <a:rPr lang="el-GR" sz="1200" b="1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ανά σελίδα</a:t>
            </a:r>
          </a:p>
          <a:p>
            <a:pPr marL="228600" indent="-228600">
              <a:buFont typeface="+mj-lt"/>
              <a:buAutoNum type="arabicPeriod"/>
            </a:pPr>
            <a:endParaRPr lang="el-GR" sz="1200" b="1" dirty="0">
              <a:solidFill>
                <a:srgbClr val="1E293B"/>
              </a:solidFill>
              <a:latin typeface="Calibri" pitchFamily="34" charset="0"/>
              <a:cs typeface="Calibri" pitchFamily="34" charset="-120"/>
            </a:endParaRPr>
          </a:p>
          <a:p>
            <a:pPr marL="228600" indent="-228600">
              <a:buFont typeface="+mj-lt"/>
              <a:buAutoNum type="arabicPeriod"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Consistency </a:t>
            </a:r>
            <a:r>
              <a:rPr lang="el-GR" sz="1200" b="1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σε χρώματα, </a:t>
            </a: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fonts </a:t>
            </a:r>
            <a:r>
              <a:rPr lang="el-GR" sz="1200" b="1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και </a:t>
            </a: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layout</a:t>
            </a:r>
          </a:p>
          <a:p>
            <a:pPr marL="228600" indent="-228600">
              <a:buFont typeface="+mj-lt"/>
              <a:buAutoNum type="arabicPeriod"/>
            </a:pPr>
            <a:endParaRPr lang="en-US" sz="1200" b="1" dirty="0">
              <a:solidFill>
                <a:srgbClr val="1E293B"/>
              </a:solidFill>
              <a:latin typeface="Calibri" pitchFamily="34" charset="0"/>
              <a:cs typeface="Calibri" pitchFamily="34" charset="-120"/>
            </a:endParaRPr>
          </a:p>
          <a:p>
            <a:pPr marL="228600" indent="-228600">
              <a:buFont typeface="+mj-lt"/>
              <a:buAutoNum type="arabicPeriod"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Stateless pages </a:t>
            </a:r>
            <a:r>
              <a:rPr lang="el-GR" sz="1200" b="1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με </a:t>
            </a: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reset() hooks</a:t>
            </a:r>
          </a:p>
          <a:p>
            <a:pPr marL="228600" indent="-228600">
              <a:buFont typeface="+mj-lt"/>
              <a:buAutoNum type="arabicPeriod"/>
            </a:pPr>
            <a:endParaRPr lang="en-US" sz="1200" b="1" dirty="0">
              <a:solidFill>
                <a:srgbClr val="1E293B"/>
              </a:solidFill>
              <a:latin typeface="Calibri" pitchFamily="34" charset="0"/>
              <a:cs typeface="Calibri" pitchFamily="34" charset="-120"/>
            </a:endParaRPr>
          </a:p>
          <a:p>
            <a:pPr marL="228600" indent="-228600">
              <a:buFont typeface="+mj-lt"/>
              <a:buAutoNum type="arabicPeriod"/>
            </a:pPr>
            <a:r>
              <a:rPr lang="el-GR" sz="1200" b="1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Απομόνωση των </a:t>
            </a: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assets (icons, images) </a:t>
            </a:r>
            <a:r>
              <a:rPr lang="el-GR" sz="1200" b="1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σε </a:t>
            </a: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resources folder</a:t>
            </a:r>
            <a:endParaRPr lang="en-US" b="1" dirty="0"/>
          </a:p>
        </p:txBody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1CAEFCE7-EBF7-758A-D143-4D2DC17ECBC2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cs typeface="Calibri" pitchFamily="34" charset="-120"/>
              </a:rPr>
              <a:t>Frontend Architecture (GUI Layer)</a:t>
            </a:r>
          </a:p>
        </p:txBody>
      </p:sp>
    </p:spTree>
    <p:extLst>
      <p:ext uri="{BB962C8B-B14F-4D97-AF65-F5344CB8AC3E}">
        <p14:creationId xmlns:p14="http://schemas.microsoft.com/office/powerpoint/2010/main" val="23850236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137E3E-34F3-24AF-9A52-105CC273A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62C273-169B-9FC3-A7E8-2031E3425E3C}"/>
              </a:ext>
            </a:extLst>
          </p:cNvPr>
          <p:cNvSpPr txBox="1"/>
          <p:nvPr/>
        </p:nvSpPr>
        <p:spPr>
          <a:xfrm>
            <a:off x="457200" y="1007911"/>
            <a:ext cx="805462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Ο φάκελος </a:t>
            </a:r>
            <a:r>
              <a:rPr lang="el-GR" sz="1200" dirty="0" err="1">
                <a:solidFill>
                  <a:srgbClr val="1E293B"/>
                </a:solidFill>
                <a:highlight>
                  <a:srgbClr val="C0C0C0"/>
                </a:highlight>
                <a:latin typeface="Calibri" pitchFamily="34" charset="0"/>
                <a:cs typeface="Calibri" pitchFamily="34" charset="-120"/>
              </a:rPr>
              <a:t>gui</a:t>
            </a:r>
            <a:r>
              <a:rPr lang="el-GR" sz="1200" dirty="0">
                <a:solidFill>
                  <a:srgbClr val="1E293B"/>
                </a:solidFill>
                <a:highlight>
                  <a:srgbClr val="C0C0C0"/>
                </a:highlight>
                <a:latin typeface="Calibri" pitchFamily="34" charset="0"/>
                <a:cs typeface="Calibri" pitchFamily="34" charset="-120"/>
              </a:rPr>
              <a:t>/</a:t>
            </a:r>
            <a:r>
              <a:rPr lang="el-GR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 περιέχει μία σελίδα ανά αρχείο, καθώς και βοηθητικά </a:t>
            </a:r>
            <a:r>
              <a:rPr lang="el-GR" sz="1200" dirty="0" err="1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modules</a:t>
            </a:r>
            <a:r>
              <a:rPr lang="el-GR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:</a:t>
            </a:r>
            <a:endParaRPr lang="en-US" b="1" dirty="0"/>
          </a:p>
        </p:txBody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5668E33A-0609-4339-DB89-B766B770435E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l-GR" sz="2600" b="1" dirty="0">
                <a:solidFill>
                  <a:srgbClr val="065A82"/>
                </a:solidFill>
                <a:latin typeface="Calibri" pitchFamily="34" charset="0"/>
                <a:cs typeface="Calibri" pitchFamily="34" charset="-120"/>
              </a:rPr>
              <a:t>Δομή </a:t>
            </a: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cs typeface="Calibri" pitchFamily="34" charset="-120"/>
              </a:rPr>
              <a:t>Frontend </a:t>
            </a:r>
            <a:r>
              <a:rPr lang="el-GR" sz="2600" b="1" dirty="0">
                <a:solidFill>
                  <a:srgbClr val="065A82"/>
                </a:solidFill>
                <a:latin typeface="Calibri" pitchFamily="34" charset="0"/>
                <a:cs typeface="Calibri" pitchFamily="34" charset="-120"/>
              </a:rPr>
              <a:t>Φακέλων</a:t>
            </a:r>
            <a:endParaRPr lang="en-US" sz="2600" b="1" dirty="0">
              <a:solidFill>
                <a:srgbClr val="065A82"/>
              </a:solidFill>
              <a:latin typeface="Calibri" pitchFamily="34" charset="0"/>
              <a:cs typeface="Calibri" pitchFamily="34" charset="-12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AD6A262-BE36-957A-47B9-AD4EA65A86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2517425"/>
              </p:ext>
            </p:extLst>
          </p:nvPr>
        </p:nvGraphicFramePr>
        <p:xfrm>
          <a:off x="524933" y="1351139"/>
          <a:ext cx="4876800" cy="2667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21475">
                  <a:extLst>
                    <a:ext uri="{9D8B030D-6E8A-4147-A177-3AD203B41FA5}">
                      <a16:colId xmlns:a16="http://schemas.microsoft.com/office/drawing/2014/main" val="1193177275"/>
                    </a:ext>
                  </a:extLst>
                </a:gridCol>
                <a:gridCol w="3455325">
                  <a:extLst>
                    <a:ext uri="{9D8B030D-6E8A-4147-A177-3AD203B41FA5}">
                      <a16:colId xmlns:a16="http://schemas.microsoft.com/office/drawing/2014/main" val="2531803297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000" u="none" strike="noStrike">
                          <a:effectLst/>
                          <a:latin typeface="Consolas" panose="020B0609020204030204" pitchFamily="49" charset="0"/>
                        </a:rPr>
                        <a:t>gui/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3332782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000" u="none" strike="noStrike">
                          <a:effectLst/>
                          <a:latin typeface="Consolas" panose="020B0609020204030204" pitchFamily="49" charset="0"/>
                        </a:rPr>
                        <a:t>MainTkWindow.py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l-GR" sz="1000" u="none" strike="noStrike" dirty="0">
                          <a:effectLst/>
                          <a:latin typeface="Consolas" panose="020B0609020204030204" pitchFamily="49" charset="0"/>
                        </a:rPr>
                        <a:t>Κεντρικό παράθυρο και </a:t>
                      </a:r>
                      <a:r>
                        <a:rPr lang="en-US" sz="1000" u="none" strike="noStrike" dirty="0">
                          <a:effectLst/>
                          <a:latin typeface="Consolas" panose="020B0609020204030204" pitchFamily="49" charset="0"/>
                        </a:rPr>
                        <a:t>routing.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13168028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000" u="none" strike="noStrike">
                          <a:effectLst/>
                          <a:latin typeface="Consolas" panose="020B0609020204030204" pitchFamily="49" charset="0"/>
                        </a:rPr>
                        <a:t>SideBar_Menu.py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l-GR" sz="1000" u="none" strike="noStrike">
                          <a:effectLst/>
                          <a:latin typeface="Consolas" panose="020B0609020204030204" pitchFamily="49" charset="0"/>
                        </a:rPr>
                        <a:t>Πλαϊνό μενού πλοήγησης.</a:t>
                      </a:r>
                      <a:endParaRPr lang="el-GR" sz="10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8935744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000" u="none" strike="noStrike">
                          <a:effectLst/>
                          <a:latin typeface="Consolas" panose="020B0609020204030204" pitchFamily="49" charset="0"/>
                        </a:rPr>
                        <a:t>Styles.py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l-GR" sz="1000" u="none" strike="noStrike">
                          <a:effectLst/>
                          <a:latin typeface="Consolas" panose="020B0609020204030204" pitchFamily="49" charset="0"/>
                        </a:rPr>
                        <a:t>Ορισμός ttk styles, χρωμάτων και fonts.</a:t>
                      </a:r>
                      <a:endParaRPr lang="el-GR" sz="10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57484136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000" u="none" strike="noStrike">
                          <a:effectLst/>
                          <a:latin typeface="Consolas" panose="020B0609020204030204" pitchFamily="49" charset="0"/>
                        </a:rPr>
                        <a:t>resources/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  <a:latin typeface="Consolas" panose="020B0609020204030204" pitchFamily="49" charset="0"/>
                        </a:rPr>
                        <a:t>PNG icons, SVGs, images.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68522814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000" u="none" strike="noStrike">
                          <a:effectLst/>
                          <a:latin typeface="Consolas" panose="020B0609020204030204" pitchFamily="49" charset="0"/>
                        </a:rPr>
                        <a:t>Dashboard_Page.py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  <a:latin typeface="Consolas" panose="020B0609020204030204" pitchFamily="49" charset="0"/>
                        </a:rPr>
                        <a:t>KPI cards, </a:t>
                      </a:r>
                      <a:r>
                        <a:rPr lang="el-GR" sz="1000" u="none" strike="noStrike">
                          <a:effectLst/>
                          <a:latin typeface="Consolas" panose="020B0609020204030204" pitchFamily="49" charset="0"/>
                        </a:rPr>
                        <a:t>γραφήματα.</a:t>
                      </a:r>
                      <a:endParaRPr lang="el-GR" sz="10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361194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000" u="none" strike="noStrike">
                          <a:effectLst/>
                          <a:latin typeface="Consolas" panose="020B0609020204030204" pitchFamily="49" charset="0"/>
                        </a:rPr>
                        <a:t>Books_Page.py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l-GR" sz="1000" u="none" strike="noStrike">
                          <a:effectLst/>
                          <a:latin typeface="Consolas" panose="020B0609020204030204" pitchFamily="49" charset="0"/>
                        </a:rPr>
                        <a:t>Αναζήτηση, λίστα, </a:t>
                      </a:r>
                      <a:r>
                        <a:rPr lang="en-US" sz="1000" u="none" strike="noStrike">
                          <a:effectLst/>
                          <a:latin typeface="Consolas" panose="020B0609020204030204" pitchFamily="49" charset="0"/>
                        </a:rPr>
                        <a:t>CRUD </a:t>
                      </a:r>
                      <a:r>
                        <a:rPr lang="el-GR" sz="1000" u="none" strike="noStrike">
                          <a:effectLst/>
                          <a:latin typeface="Consolas" panose="020B0609020204030204" pitchFamily="49" charset="0"/>
                        </a:rPr>
                        <a:t>βιβλίων.</a:t>
                      </a:r>
                      <a:endParaRPr lang="el-GR" sz="10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0128413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000" u="none" strike="noStrike">
                          <a:effectLst/>
                          <a:latin typeface="Consolas" panose="020B0609020204030204" pitchFamily="49" charset="0"/>
                        </a:rPr>
                        <a:t>Book_Edit_Page.py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l-GR" sz="1000" u="none" strike="noStrike">
                          <a:effectLst/>
                          <a:latin typeface="Consolas" panose="020B0609020204030204" pitchFamily="49" charset="0"/>
                        </a:rPr>
                        <a:t>Φόρμα προσθήκης/ενημέρωσης βιβλίου.</a:t>
                      </a:r>
                      <a:endParaRPr lang="el-GR" sz="10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4621398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000" u="none" strike="noStrike">
                          <a:effectLst/>
                          <a:latin typeface="Consolas" panose="020B0609020204030204" pitchFamily="49" charset="0"/>
                        </a:rPr>
                        <a:t>Categories_Page.py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  <a:latin typeface="Consolas" panose="020B0609020204030204" pitchFamily="49" charset="0"/>
                        </a:rPr>
                        <a:t>CRUD </a:t>
                      </a:r>
                      <a:r>
                        <a:rPr lang="el-GR" sz="1000" u="none" strike="noStrike">
                          <a:effectLst/>
                          <a:latin typeface="Consolas" panose="020B0609020204030204" pitchFamily="49" charset="0"/>
                        </a:rPr>
                        <a:t>κατηγοριών.</a:t>
                      </a:r>
                      <a:endParaRPr lang="el-GR" sz="10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89865059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000" u="none" strike="noStrike">
                          <a:effectLst/>
                          <a:latin typeface="Consolas" panose="020B0609020204030204" pitchFamily="49" charset="0"/>
                        </a:rPr>
                        <a:t>Loans_Page.py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l-GR" sz="1000" u="none" strike="noStrike">
                          <a:effectLst/>
                          <a:latin typeface="Consolas" panose="020B0609020204030204" pitchFamily="49" charset="0"/>
                        </a:rPr>
                        <a:t>Δανεισμός και επιστροφή.</a:t>
                      </a:r>
                      <a:endParaRPr lang="el-GR" sz="10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1851507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000" u="none" strike="noStrike">
                          <a:effectLst/>
                          <a:latin typeface="Consolas" panose="020B0609020204030204" pitchFamily="49" charset="0"/>
                        </a:rPr>
                        <a:t>Members_Page.py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  <a:latin typeface="Consolas" panose="020B0609020204030204" pitchFamily="49" charset="0"/>
                        </a:rPr>
                        <a:t>CRUD </a:t>
                      </a:r>
                      <a:r>
                        <a:rPr lang="el-GR" sz="1000" u="none" strike="noStrike">
                          <a:effectLst/>
                          <a:latin typeface="Consolas" panose="020B0609020204030204" pitchFamily="49" charset="0"/>
                        </a:rPr>
                        <a:t>μελών.</a:t>
                      </a:r>
                      <a:endParaRPr lang="el-GR" sz="10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80149833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000" u="none" strike="noStrike">
                          <a:effectLst/>
                          <a:latin typeface="Consolas" panose="020B0609020204030204" pitchFamily="49" charset="0"/>
                        </a:rPr>
                        <a:t>Rating_Page.py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l-GR" sz="1000" u="none" strike="noStrike" dirty="0">
                          <a:effectLst/>
                          <a:latin typeface="Consolas" panose="020B0609020204030204" pitchFamily="49" charset="0"/>
                        </a:rPr>
                        <a:t>Βαθμολόγηση βιβλίων.</a:t>
                      </a:r>
                      <a:endParaRPr lang="el-GR" sz="1000" b="0" i="0" u="none" strike="noStrike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85698497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000" u="none" strike="noStrike">
                          <a:effectLst/>
                          <a:latin typeface="Consolas" panose="020B0609020204030204" pitchFamily="49" charset="0"/>
                        </a:rPr>
                        <a:t>Recommend_Page.py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l-GR" sz="1000" u="none" strike="noStrike">
                          <a:effectLst/>
                          <a:latin typeface="Consolas" panose="020B0609020204030204" pitchFamily="49" charset="0"/>
                        </a:rPr>
                        <a:t>Προτάσεις ανά μέλος.</a:t>
                      </a:r>
                      <a:endParaRPr lang="el-GR" sz="10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3219124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000" u="none" strike="noStrike">
                          <a:effectLst/>
                          <a:latin typeface="Consolas" panose="020B0609020204030204" pitchFamily="49" charset="0"/>
                        </a:rPr>
                        <a:t>Statistics_Page.py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l-GR" sz="1000" u="none" strike="noStrike" dirty="0">
                          <a:effectLst/>
                          <a:latin typeface="Consolas" panose="020B0609020204030204" pitchFamily="49" charset="0"/>
                        </a:rPr>
                        <a:t>Ενότητες στατιστικών.</a:t>
                      </a:r>
                      <a:endParaRPr lang="el-GR" sz="1000" b="0" i="0" u="none" strike="noStrike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47586158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A151ABA6-8902-BA20-02F8-BF99DCD72FAB}"/>
              </a:ext>
            </a:extLst>
          </p:cNvPr>
          <p:cNvSpPr txBox="1"/>
          <p:nvPr/>
        </p:nvSpPr>
        <p:spPr>
          <a:xfrm>
            <a:off x="457200" y="4135589"/>
            <a:ext cx="805462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1200" dirty="0"/>
              <a:t>Κάθε σελίδα είναι μία κλάση που κληρονομεί από </a:t>
            </a:r>
            <a:r>
              <a:rPr lang="el-GR" sz="1200" dirty="0" err="1"/>
              <a:t>ttk.Frame</a:t>
            </a:r>
            <a:endParaRPr 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24812309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741C5-3995-5875-7E6E-6637170B1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0816DBD-1A79-A07A-B279-A77CDF4BF98E}"/>
              </a:ext>
            </a:extLst>
          </p:cNvPr>
          <p:cNvSpPr txBox="1"/>
          <p:nvPr/>
        </p:nvSpPr>
        <p:spPr>
          <a:xfrm>
            <a:off x="457200" y="657956"/>
            <a:ext cx="805462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/>
          </a:p>
          <a:p>
            <a:r>
              <a:rPr lang="el-GR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Η σχεδίαση του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GUI </a:t>
            </a:r>
            <a:r>
              <a:rPr lang="el-GR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ακολουθεί συγκεκριμένες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UX </a:t>
            </a:r>
            <a:r>
              <a:rPr lang="el-GR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αρχές:</a:t>
            </a:r>
            <a:endParaRPr lang="en-US" sz="1200" dirty="0">
              <a:solidFill>
                <a:srgbClr val="1E293B"/>
              </a:solidFill>
              <a:latin typeface="Calibri" pitchFamily="34" charset="0"/>
              <a:cs typeface="Calibri" pitchFamily="34" charset="-120"/>
            </a:endParaRPr>
          </a:p>
          <a:p>
            <a:endParaRPr lang="el-GR" sz="1200" dirty="0">
              <a:solidFill>
                <a:srgbClr val="1E293B"/>
              </a:solidFill>
              <a:latin typeface="Calibri" pitchFamily="34" charset="0"/>
              <a:cs typeface="Calibri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Consistent spacing (20px margins, 10px paddings)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Flat modern buttons </a:t>
            </a:r>
            <a:r>
              <a:rPr lang="el-GR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χωρίς περιττά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borders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Dark sidebar / light content contrast </a:t>
            </a:r>
            <a:r>
              <a:rPr lang="el-GR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για καθαρή οπτική ιεραρχία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Responsive layout </a:t>
            </a:r>
            <a:r>
              <a:rPr lang="el-GR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με συνδυασμό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grid/pack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Clear separation of concerns (</a:t>
            </a:r>
            <a:r>
              <a:rPr lang="el-GR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κάθε σελίδα κάνει ένα πράγμα)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Minimal cognitive load — </a:t>
            </a:r>
            <a:r>
              <a:rPr lang="el-GR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απλές φόρμες, καθαρά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tables, </a:t>
            </a:r>
            <a:r>
              <a:rPr lang="el-GR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ξεκάθαρα κουμπιά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Ομοιομορφία σε τίτλους, υπότιτλους και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card components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Scrollable pages </a:t>
            </a:r>
            <a:r>
              <a:rPr lang="el-GR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όπου το περιεχόμενο είναι μεγάλο (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Statistics_Page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)</a:t>
            </a:r>
          </a:p>
          <a:p>
            <a:endParaRPr lang="en-US" sz="1200" dirty="0">
              <a:solidFill>
                <a:srgbClr val="1E293B"/>
              </a:solidFill>
              <a:latin typeface="Calibri" pitchFamily="34" charset="0"/>
              <a:cs typeface="Calibri" pitchFamily="34" charset="-120"/>
            </a:endParaRPr>
          </a:p>
          <a:p>
            <a:r>
              <a:rPr lang="el-GR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Αυτές οι αρχές εξασφαλίζουν ότι η εφαρμογή είναι εύχρηστη, καθαρή και συνεπής σε όλο το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UI.</a:t>
            </a:r>
          </a:p>
          <a:p>
            <a:endParaRPr lang="en-US" dirty="0"/>
          </a:p>
        </p:txBody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88EA328D-3CD5-BCB8-F340-554ED58C1891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cs typeface="Calibri" pitchFamily="34" charset="-120"/>
              </a:rPr>
              <a:t>UX</a:t>
            </a:r>
            <a:r>
              <a:rPr lang="en-US" sz="2800" dirty="0"/>
              <a:t> </a:t>
            </a: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cs typeface="Calibri" pitchFamily="34" charset="-120"/>
              </a:rPr>
              <a:t>Guidelines</a:t>
            </a:r>
          </a:p>
        </p:txBody>
      </p:sp>
    </p:spTree>
    <p:extLst>
      <p:ext uri="{BB962C8B-B14F-4D97-AF65-F5344CB8AC3E}">
        <p14:creationId xmlns:p14="http://schemas.microsoft.com/office/powerpoint/2010/main" val="31180783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Αρχική Σελίδα (Dashboard)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868680"/>
            <a:ext cx="7772400" cy="374904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screenshots_cropped/dashboar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31520" y="914400"/>
            <a:ext cx="768096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cards, διάγραμμα δανεισμών 7 ημερών, πίνακας οφειλών (overdue).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Κατάλογος Βιβλίων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868680"/>
            <a:ext cx="7772400" cy="374904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screenshots_cropped/book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31520" y="914400"/>
            <a:ext cx="768096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Αναζήτηση σε τίτλο/συγγραφέα/ISBN/κατηγορία, φίλτρα και ταξινόμηση κατά βαθμολογία.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Διαχείριση Μελών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868680"/>
            <a:ext cx="7772400" cy="374904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screenshots_cropped/member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31520" y="914400"/>
            <a:ext cx="768096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Πλήρες CRUD μελών με auto-generated registration_number.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Δανεισμός Βιβλίων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868680"/>
            <a:ext cx="7772400" cy="374904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screenshots_cropped/loan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31520" y="914400"/>
            <a:ext cx="768096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Επιλογή βιβλίου + μέλους με live filtering. Δανεισμός και επιστροφή σε ίδια σελίδα.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Προτάσεις Βιβλίων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868680"/>
            <a:ext cx="7772400" cy="374904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screenshots_cropped/recommen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31520" y="914400"/>
            <a:ext cx="768096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 ταξινομημένες κατά score. Άμεσος δανεισμός από εδώ.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Στατιστικά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868680"/>
            <a:ext cx="7772400" cy="374904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Πέντε ενότητες ανάλυσης — δανεισμοί ανά μέλος/κατηγορία/συγγραφέα/ηλικία/φύλο.</a:t>
            </a:r>
            <a:endParaRPr lang="en-US" sz="10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76934C7-4796-DDFA-E1D9-E4C0C0FE07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066" y="920044"/>
            <a:ext cx="7653867" cy="3646311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Σύνοψη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48640" cy="54864"/>
          </a:xfrm>
          <a:prstGeom prst="rect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4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1920240" y="1645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επίπεδα αρχιτεκτονικής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920240" y="21488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 · Logic · Validation · DAL · DB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663440" y="155448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4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6400" dirty="0"/>
          </a:p>
        </p:txBody>
      </p:sp>
      <p:sp>
        <p:nvSpPr>
          <p:cNvPr id="8" name="Text 6"/>
          <p:cNvSpPr/>
          <p:nvPr/>
        </p:nvSpPr>
        <p:spPr>
          <a:xfrm>
            <a:off x="6126480" y="1645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πίνακες SQL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126480" y="21488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Με FK constraints + transactions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4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6400" dirty="0"/>
          </a:p>
        </p:txBody>
      </p:sp>
      <p:sp>
        <p:nvSpPr>
          <p:cNvPr id="11" name="Text 9"/>
          <p:cNvSpPr/>
          <p:nvPr/>
        </p:nvSpPr>
        <p:spPr>
          <a:xfrm>
            <a:off x="1920240" y="3108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σελίδες GUI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920240" y="36118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Books, Loans, Members, …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63440" y="301752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4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6400" dirty="0"/>
          </a:p>
        </p:txBody>
      </p:sp>
      <p:sp>
        <p:nvSpPr>
          <p:cNvPr id="14" name="Text 12"/>
          <p:cNvSpPr/>
          <p:nvPr/>
        </p:nvSpPr>
        <p:spPr>
          <a:xfrm>
            <a:off x="6126480" y="3108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εξωτερικές εξαρτήσεις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126480" y="36118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matplotlib · pandas · pillow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Ευχαριστούμε για την προσοχή σας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</TotalTime>
  <Words>1941</Words>
  <Application>Microsoft Office PowerPoint</Application>
  <PresentationFormat>On-screen Show (16:9)</PresentationFormat>
  <Paragraphs>168</Paragraphs>
  <Slides>19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Σύστημα Διαχείρισης Δανειστικής Βιβλιοθήκης</dc:title>
  <dc:subject>PptxGenJS Presentation</dc:subject>
  <dc:creator>EAP ΠΛΗΠΡΟ Project 31</dc:creator>
  <cp:lastModifiedBy>V4V ...</cp:lastModifiedBy>
  <cp:revision>2</cp:revision>
  <dcterms:created xsi:type="dcterms:W3CDTF">2026-05-17T10:16:33Z</dcterms:created>
  <dcterms:modified xsi:type="dcterms:W3CDTF">2026-05-27T08:01:01Z</dcterms:modified>
</cp:coreProperties>
</file>