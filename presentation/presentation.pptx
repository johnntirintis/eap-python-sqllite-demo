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4" r:id="rId12"/>
    <p:sldId id="273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4V ..." userId="cb63ec986d86812e" providerId="LiveId" clId="{0872702A-717C-449D-BDA4-066A9CD70380}"/>
    <pc:docChg chg="undo custSel modSld">
      <pc:chgData name="V4V ..." userId="cb63ec986d86812e" providerId="LiveId" clId="{0872702A-717C-449D-BDA4-066A9CD70380}" dt="2026-05-26T15:43:46.635" v="17" actId="1076"/>
      <pc:docMkLst>
        <pc:docMk/>
      </pc:docMkLst>
      <pc:sldChg chg="addSp delSp modSp mod">
        <pc:chgData name="V4V ..." userId="cb63ec986d86812e" providerId="LiveId" clId="{0872702A-717C-449D-BDA4-066A9CD70380}" dt="2026-05-26T15:43:46.635" v="17" actId="1076"/>
        <pc:sldMkLst>
          <pc:docMk/>
          <pc:sldMk cId="0" sldId="270"/>
        </pc:sldMkLst>
        <pc:picChg chg="del">
          <ac:chgData name="V4V ..." userId="cb63ec986d86812e" providerId="LiveId" clId="{0872702A-717C-449D-BDA4-066A9CD70380}" dt="2026-05-26T15:42:45.448" v="10" actId="478"/>
          <ac:picMkLst>
            <pc:docMk/>
            <pc:sldMk cId="0" sldId="270"/>
            <ac:picMk id="4" creationId="{00000000-0000-0000-0000-000000000000}"/>
          </ac:picMkLst>
        </pc:picChg>
        <pc:picChg chg="add del">
          <ac:chgData name="V4V ..." userId="cb63ec986d86812e" providerId="LiveId" clId="{0872702A-717C-449D-BDA4-066A9CD70380}" dt="2026-05-26T15:42:04.047" v="1" actId="22"/>
          <ac:picMkLst>
            <pc:docMk/>
            <pc:sldMk cId="0" sldId="270"/>
            <ac:picMk id="7" creationId="{EAE8040C-090E-5B43-2739-93DFDCEFF296}"/>
          </ac:picMkLst>
        </pc:picChg>
        <pc:picChg chg="add mod">
          <ac:chgData name="V4V ..." userId="cb63ec986d86812e" providerId="LiveId" clId="{0872702A-717C-449D-BDA4-066A9CD70380}" dt="2026-05-26T15:43:46.635" v="17" actId="1076"/>
          <ac:picMkLst>
            <pc:docMk/>
            <pc:sldMk cId="0" sldId="270"/>
            <ac:picMk id="9" creationId="{176934C7-4796-DDFA-E1D9-E4C0C0FE07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578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Σύστημα Διαχείρισης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Δανειστικής Βιβλιοθήκης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ΠΛΗΠΡΟ-</a:t>
            </a:r>
            <a:r>
              <a:rPr lang="el-GR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ΗΛΕ51</a:t>
            </a: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</a:t>
            </a:r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Hellenic Open University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474720"/>
            <a:ext cx="109728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ρουσί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αση Έργου</a:t>
            </a:r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Ακαδημαϊκό Έτος 2025-2026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Στόχος του έργου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Ολοκληρωμένη εφαρμογή διαχείρισης δανειστικής βιβλιοθήκης με κατάλογο βιβλίων, διαχείριση μελών, δανεισμούς, στατιστικά και προτάσεις βασισμένες σε ιστορικό και βαθμολογίες.</a:t>
            </a:r>
            <a:endParaRPr lang="en-US" sz="140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A1FF900-2B19-630F-423D-1E76B5159C94}"/>
              </a:ext>
            </a:extLst>
          </p:cNvPr>
          <p:cNvGrpSpPr/>
          <p:nvPr/>
        </p:nvGrpSpPr>
        <p:grpSpPr>
          <a:xfrm>
            <a:off x="381888" y="2236777"/>
            <a:ext cx="1840009" cy="1423588"/>
            <a:chOff x="400271" y="2240280"/>
            <a:chExt cx="1840009" cy="1423588"/>
          </a:xfrm>
        </p:grpSpPr>
        <p:sp>
          <p:nvSpPr>
            <p:cNvPr id="4" name="Shape 2"/>
            <p:cNvSpPr/>
            <p:nvPr/>
          </p:nvSpPr>
          <p:spPr>
            <a:xfrm>
              <a:off x="400271" y="2246548"/>
              <a:ext cx="1413190" cy="1417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414164" y="2240280"/>
              <a:ext cx="55149" cy="1417320"/>
            </a:xfrm>
            <a:prstGeom prst="rect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40080" y="2240280"/>
              <a:ext cx="1600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01</a:t>
              </a:r>
              <a:endParaRPr lang="en-US" sz="11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40080" y="2606040"/>
              <a:ext cx="16002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065A8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Κατάλογος</a:t>
              </a:r>
              <a:endParaRPr lang="en-US" sz="17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5072" y="3080569"/>
              <a:ext cx="1434683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Βιβλία και κατηγ</a:t>
              </a:r>
              <a:r>
                <a:rPr lang="en-US" sz="11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ορ</a:t>
              </a:r>
              <a:r>
                <a:rPr lang="en-US" sz="11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ίες, αναζήτηση και φίλτρα</a:t>
              </a:r>
              <a:endParaRPr lang="en-US" sz="110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9C11165-8848-5579-366C-48367808773A}"/>
              </a:ext>
            </a:extLst>
          </p:cNvPr>
          <p:cNvGrpSpPr/>
          <p:nvPr/>
        </p:nvGrpSpPr>
        <p:grpSpPr>
          <a:xfrm>
            <a:off x="2149471" y="2236777"/>
            <a:ext cx="1808604" cy="1423588"/>
            <a:chOff x="2126422" y="2234012"/>
            <a:chExt cx="1808604" cy="1423588"/>
          </a:xfrm>
        </p:grpSpPr>
        <p:sp>
          <p:nvSpPr>
            <p:cNvPr id="9" name="Shape 7"/>
            <p:cNvSpPr/>
            <p:nvPr/>
          </p:nvSpPr>
          <p:spPr>
            <a:xfrm>
              <a:off x="2126422" y="2234012"/>
              <a:ext cx="1413190" cy="1417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129912" y="2240280"/>
              <a:ext cx="55149" cy="1417320"/>
            </a:xfrm>
            <a:prstGeom prst="rect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2334826" y="2240280"/>
              <a:ext cx="1600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02</a:t>
              </a:r>
              <a:endParaRPr lang="en-US" sz="11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334826" y="2606040"/>
              <a:ext cx="16002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065A8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Μέλη</a:t>
              </a:r>
              <a:endParaRPr lang="en-US" sz="17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334826" y="3148412"/>
              <a:ext cx="1149637" cy="4634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Πλήρες CRUD και ιστορικό</a:t>
              </a:r>
              <a:endParaRPr lang="en-US" sz="11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6C4416B-3946-199D-BA6E-314BCB0B283A}"/>
              </a:ext>
            </a:extLst>
          </p:cNvPr>
          <p:cNvGrpSpPr/>
          <p:nvPr/>
        </p:nvGrpSpPr>
        <p:grpSpPr>
          <a:xfrm>
            <a:off x="3885649" y="2239911"/>
            <a:ext cx="1783080" cy="1417320"/>
            <a:chOff x="3852573" y="2227006"/>
            <a:chExt cx="1783080" cy="1417320"/>
          </a:xfrm>
        </p:grpSpPr>
        <p:sp>
          <p:nvSpPr>
            <p:cNvPr id="14" name="Shape 12"/>
            <p:cNvSpPr/>
            <p:nvPr/>
          </p:nvSpPr>
          <p:spPr>
            <a:xfrm>
              <a:off x="3852573" y="2227006"/>
              <a:ext cx="1413190" cy="1417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3852573" y="2227006"/>
              <a:ext cx="55149" cy="1417320"/>
            </a:xfrm>
            <a:prstGeom prst="rect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4035453" y="2227006"/>
              <a:ext cx="1600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03</a:t>
              </a:r>
              <a:endParaRPr lang="en-US" sz="11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035453" y="2592766"/>
              <a:ext cx="16002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065A8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Δανεισμοί</a:t>
              </a:r>
              <a:endParaRPr lang="en-US" sz="17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035453" y="3047202"/>
              <a:ext cx="1336168" cy="5407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Δανεισμός / επιστροφή με βαθμολόγηση</a:t>
              </a:r>
              <a:endParaRPr lang="en-US" sz="11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2AF7624-AA1A-568A-1F40-E76D6F33BC5B}"/>
              </a:ext>
            </a:extLst>
          </p:cNvPr>
          <p:cNvGrpSpPr/>
          <p:nvPr/>
        </p:nvGrpSpPr>
        <p:grpSpPr>
          <a:xfrm>
            <a:off x="5596303" y="2239911"/>
            <a:ext cx="1783080" cy="1417320"/>
            <a:chOff x="5600898" y="2240280"/>
            <a:chExt cx="1783080" cy="1417320"/>
          </a:xfrm>
        </p:grpSpPr>
        <p:sp>
          <p:nvSpPr>
            <p:cNvPr id="19" name="Shape 17"/>
            <p:cNvSpPr/>
            <p:nvPr/>
          </p:nvSpPr>
          <p:spPr>
            <a:xfrm>
              <a:off x="5600898" y="2240280"/>
              <a:ext cx="1413190" cy="1417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5600898" y="2240280"/>
              <a:ext cx="55149" cy="1417320"/>
            </a:xfrm>
            <a:prstGeom prst="rect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783778" y="2240280"/>
              <a:ext cx="1600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04</a:t>
              </a:r>
              <a:endParaRPr lang="en-US" sz="11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5783778" y="2606040"/>
              <a:ext cx="16002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065A8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Προτάσεις</a:t>
              </a:r>
              <a:endParaRPr lang="en-US" sz="17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783778" y="3060476"/>
              <a:ext cx="1230310" cy="5514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Recommendations ανά μέλος</a:t>
              </a:r>
              <a:endParaRPr lang="en-US" sz="1100" dirty="0"/>
            </a:p>
          </p:txBody>
        </p:sp>
      </p:grpSp>
      <p:sp>
        <p:nvSpPr>
          <p:cNvPr id="24" name="Text 22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Τεχνολογίες: Python 3 · Tkinter · SQLite 3 · matplotlib · pandas</a:t>
            </a:r>
            <a:r>
              <a:rPr lang="el-GR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el-GR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2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BC441-1F05-878D-45BF-AAA759DE2AE5}"/>
              </a:ext>
            </a:extLst>
          </p:cNvPr>
          <p:cNvGrpSpPr/>
          <p:nvPr/>
        </p:nvGrpSpPr>
        <p:grpSpPr>
          <a:xfrm>
            <a:off x="7306956" y="2236777"/>
            <a:ext cx="1808604" cy="1423588"/>
            <a:chOff x="2126422" y="2234012"/>
            <a:chExt cx="1808604" cy="1423588"/>
          </a:xfrm>
        </p:grpSpPr>
        <p:sp>
          <p:nvSpPr>
            <p:cNvPr id="34" name="Shape 7">
              <a:extLst>
                <a:ext uri="{FF2B5EF4-FFF2-40B4-BE49-F238E27FC236}">
                  <a16:creationId xmlns:a16="http://schemas.microsoft.com/office/drawing/2014/main" id="{4439B925-53D3-EFB1-3D28-26A380398845}"/>
                </a:ext>
              </a:extLst>
            </p:cNvPr>
            <p:cNvSpPr/>
            <p:nvPr/>
          </p:nvSpPr>
          <p:spPr>
            <a:xfrm>
              <a:off x="2126422" y="2234012"/>
              <a:ext cx="1413190" cy="1417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8">
              <a:extLst>
                <a:ext uri="{FF2B5EF4-FFF2-40B4-BE49-F238E27FC236}">
                  <a16:creationId xmlns:a16="http://schemas.microsoft.com/office/drawing/2014/main" id="{762CB193-D896-F077-381F-3896B9F64ABA}"/>
                </a:ext>
              </a:extLst>
            </p:cNvPr>
            <p:cNvSpPr/>
            <p:nvPr/>
          </p:nvSpPr>
          <p:spPr>
            <a:xfrm>
              <a:off x="2129912" y="2240280"/>
              <a:ext cx="55149" cy="1417320"/>
            </a:xfrm>
            <a:prstGeom prst="rect">
              <a:avLst/>
            </a:prstGeom>
            <a:solidFill>
              <a:srgbClr val="1C7293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9">
              <a:extLst>
                <a:ext uri="{FF2B5EF4-FFF2-40B4-BE49-F238E27FC236}">
                  <a16:creationId xmlns:a16="http://schemas.microsoft.com/office/drawing/2014/main" id="{06FA301B-7581-B14C-7064-9E56594567A2}"/>
                </a:ext>
              </a:extLst>
            </p:cNvPr>
            <p:cNvSpPr/>
            <p:nvPr/>
          </p:nvSpPr>
          <p:spPr>
            <a:xfrm>
              <a:off x="2334826" y="2240280"/>
              <a:ext cx="1600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</a:t>
              </a:r>
              <a:r>
                <a:rPr lang="el-GR" sz="11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1100" dirty="0"/>
            </a:p>
          </p:txBody>
        </p:sp>
        <p:sp>
          <p:nvSpPr>
            <p:cNvPr id="37" name="Text 10">
              <a:extLst>
                <a:ext uri="{FF2B5EF4-FFF2-40B4-BE49-F238E27FC236}">
                  <a16:creationId xmlns:a16="http://schemas.microsoft.com/office/drawing/2014/main" id="{102181FC-4274-1D54-84AE-6465B75963B6}"/>
                </a:ext>
              </a:extLst>
            </p:cNvPr>
            <p:cNvSpPr/>
            <p:nvPr/>
          </p:nvSpPr>
          <p:spPr>
            <a:xfrm>
              <a:off x="2334826" y="2606040"/>
              <a:ext cx="16002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l-GR" sz="1700" b="1" dirty="0">
                  <a:solidFill>
                    <a:srgbClr val="065A82"/>
                  </a:solidFill>
                  <a:latin typeface="Calibri" pitchFamily="34" charset="0"/>
                  <a:cs typeface="Calibri" pitchFamily="34" charset="-120"/>
                </a:rPr>
                <a:t>Στατιστικά</a:t>
              </a:r>
              <a:endParaRPr lang="en-US" sz="1700" dirty="0"/>
            </a:p>
          </p:txBody>
        </p:sp>
        <p:sp>
          <p:nvSpPr>
            <p:cNvPr id="38" name="Text 11">
              <a:extLst>
                <a:ext uri="{FF2B5EF4-FFF2-40B4-BE49-F238E27FC236}">
                  <a16:creationId xmlns:a16="http://schemas.microsoft.com/office/drawing/2014/main" id="{5DEBA86E-613C-86D6-2357-3547EFD48300}"/>
                </a:ext>
              </a:extLst>
            </p:cNvPr>
            <p:cNvSpPr/>
            <p:nvPr/>
          </p:nvSpPr>
          <p:spPr>
            <a:xfrm>
              <a:off x="2334826" y="3148412"/>
              <a:ext cx="1149637" cy="4634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l-GR" sz="11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Στατιστικά μελών και δανεισμών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 Layered (N-Tier)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ροή είναι από πάνω προς τα κάτω. Κάθε επίπεδο γνωρίζει μόνο το αμέσως από κάτω.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0120" y="1234440"/>
            <a:ext cx="5760720" cy="5669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12893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(Presentation)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5453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gui/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37560" y="12344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Tkinter. Διαβάζει input από τον χρήστη, καλεί service. Δεν αγγίζει SQL.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1892808"/>
            <a:ext cx="5760720" cy="566928"/>
          </a:xfrm>
          <a:prstGeom prst="rect">
            <a:avLst/>
          </a:prstGeom>
          <a:solidFill>
            <a:srgbClr val="1470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1947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2037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app/business_logic.py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89280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Χτίζει</a:t>
            </a: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DTOs, καλεί validators, αναθέτει στο DAL.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0120" y="2551176"/>
            <a:ext cx="5760720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97280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28620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app/validation/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25511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rules: email, age, gender, ISBN κ.λπ. Πετάει custom exceptions.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00984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0120" y="3209544"/>
            <a:ext cx="5760720" cy="566928"/>
          </a:xfrm>
          <a:prstGeom prst="rect">
            <a:avLst/>
          </a:prstGeom>
          <a:solidFill>
            <a:srgbClr val="297A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97280" y="32644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 (DAL)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app/dal.py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37560" y="3209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SQL μέσα σε transactions. Επιστρέφει DTOs.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0120" y="3867912"/>
            <a:ext cx="5760720" cy="566928"/>
          </a:xfrm>
          <a:prstGeom prst="rect">
            <a:avLst/>
          </a:prstGeom>
          <a:solidFill>
            <a:srgbClr val="3690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97280" y="3922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97280" y="41788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sql/schema.sql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3867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3 - 5 πίνακες με FK constraints και CHECK rules.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4944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Ροή κλήσεων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680960" y="1691640"/>
            <a:ext cx="146304" cy="24688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 rot="19277385">
            <a:off x="7596304" y="3977639"/>
            <a:ext cx="384048" cy="329184"/>
          </a:xfrm>
          <a:prstGeom prst="rtTriangl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data flow. </a:t>
            </a:r>
            <a:r>
              <a:rPr lang="en-US" sz="10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επίπεδο αντικαθίσταται ανεξάρτητα.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 Βάσης Δεδομένων</a:t>
            </a:r>
            <a:endParaRPr lang="en-US" sz="2600" dirty="0"/>
          </a:p>
        </p:txBody>
      </p:sp>
      <p:pic>
        <p:nvPicPr>
          <p:cNvPr id="3" name="Image 0" descr="/home/claude/diagrams/schema_slid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22773" y="914400"/>
            <a:ext cx="6498454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πίνακες · FK constraints · CHECK rules · UNIQUE(member_id, book_id) στα ratings.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</a:t>
            </a:r>
            <a:r>
              <a:rPr lang="en-US" sz="26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ράδειγμ</a:t>
            </a: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Κώδικα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GUI δίνει μόνο τα IDs. Η BusinessLogic χτίζει DTO, καλεί validator, αναθέτει στο DAL: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4173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app/business_logic.py
</a:t>
            </a: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borrow_book(self, member_id, book_id):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dto = CreateLoanDTO(member_id=member_id, book_id=book_id)
    validate_new_loan(dto)        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raises if invalid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self.dal.borrow_book(dto)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σελίδα GUI απλά καλεί τη μέθοδο — μία γραμμή: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1430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gui/Loans_Page.py
</a:t>
            </a: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borrow_book(self):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self.service.borrow_book(member_id, book_id)
    self.refresh_all()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Δανεισμός: Validation + Atomic Transaction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δανεισμός είναι σύνθετη πράξη: validation + INSERT loan + UPDATE available_copies. Όλα σε ένα transaction μέσω context manager.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8229600" cy="3108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795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
</a:t>
            </a: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borrow_book(self, dto: CreateLoanDTO) -&gt; LoanResponseDTO: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loan_date = date.today()
    due_date  = loan_date + timedelta(days=14)
</a:t>
            </a: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self.db.get_connection() as connection: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1) έλεγχος μέλους (active?) και βιβλίου (διαθέσιμο?)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2) INSERT loan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cursor = connection.execute(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loans (member_id, book_id, loan_date,
                                due_date, status) VALUES (?,?,?,?,'borrowed')",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(dto.member_id, dto.book_id,
             loan_date.isoformat(), due_date.isoformat()))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3) UPDATE inventory στο ίδιο transaction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"UPDATE books SET available_copies = available_copies - 1
             WHERE id = ?", (dto.book_id,))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self.get_loan(cursor.lastrowid)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 κάποιο βήμα αποτύχει, το transaction κάνει rollback.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Αναζήτηση Βιβλίων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query αναζητά ταυτόχρονα σε τίτλο, συγγραφέα, ISBN και όνομα κατηγορίας, και επιστρέφει και τη μέση βαθμολογία: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8229600" cy="26974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7955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search_books()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 = f"%{keyword.strip()}%"
sql = 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b.id, b.title, b.author, b.isbn, ... , "
    "r.avg_rating, r.rating_count "
    "FROM books b "
    "JOIN categories c ON c.id = b.category_id "
    "LEFT JOIN (SELECT book_id, AVG(rating) AS avg_rating, "
    "                  COUNT(*) AS rating_count "
    "           FROM ratings GROUP BY book_id) r ON r.book_id = b.id "
    "WHERE b.title LIKE ? OR b.author LIKE ? "
    "   OR b.isbn LIKE ?  OR c.name LIKE ? "
    "ORDER BY LOWER(b.title), b.id"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rows = connection.execute(sql,
            (pattern, pattern, pattern, pattern)).fetchall()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πεδία αναζήτησης σε ένα round-trip · παραμετροποιημένα queries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Σύστημα Βαθμολογιών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μέλος μπορεί να βαθμολογήσει ένα βιβλίο μία φορά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 την επιστροφή του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Η βαθμολόγηση εκτελείται με UPSERT — εισαγωγή ή ενημέρωση της υπάρχουσας: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8229600" cy="16916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783080"/>
            <a:ext cx="7955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add_or_update_rating()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"INSERT INTO ratings (member_id, book_id, rating) "
    "VALUES (?, ?, ?) "
    "ON CONFLICT(member_id, book_id) DO UPDATE SET "
    "    rating = excluded.rating, "
    "    rated_at = CURRENT_TIMESTAMP",
</a:t>
            </a: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(member_id, book_id, rating))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συνθήκη </a:t>
            </a: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UNIQUE(member_id, book_id)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στο schema εγγυάται ότι ένα μέλος έχει το πολύ μία βαθμολογία ανά βιβλίο.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</a:t>
            </a: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DELETE CASCADE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η διαγραφή μέλους ή βιβλίου διαγράφει αυτόματα τις σχετικές βαθμολογίες.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βαθμολόγηση καλείται μέσα στο </a:t>
            </a: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return_book(loan_id, rating=N)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ένα atomic flow.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Μηχανισμός Προτάσεων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(κατηγοριακή προτίμηση × 1.5) + (μέση βαθμολογία του βιβλίου). Εξαιρούνται βιβλία που το μέλος έχει ήδη δανειστεί.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31546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79552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recommend_books()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b.id, b.title, b.author, b.category_id, c.name AS category_name,
       COALESCE(mc.category_loans, 0) AS category_loans,
       COALESCE(br.avg_rating,    0) AS avg_rating,
</a:t>
            </a: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(COALESCE(mc.category_loans, 0) * 1.5
        + COALESCE(br.avg_rating, 0)) AS score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books b JOIN categories c ON c.id = b.category_id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(   -- πόσες φορές έχει δανειστεί το μέλος κάθε κατηγορία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b.category_id, COUNT(*) AS category_loans
    FROM loans l JOIN books b ON b.id = l.book_id
    WHERE l.member_id = ?  GROUP BY b.category_id
) mc ON mc.category_id = b.category_id
</a:t>
            </a: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(   -- μέση βαθμολογία ανά βιβλίο
</a:t>
            </a: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book_id, AVG(rating) AS avg_rating
    FROM ratings GROUP BY book_id
) br ON br.book_id = b.id
WHERE b.available_copies &gt; 0
  AND b.id NOT IN (SELECT book_id FROM loans WHERE member_id = ?)
ORDER BY score DESC, b.title LIMIT 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Όλα γίνονται σε ένα SQL query · δεν φορτώνουμε δεδομένα στη μνήμη για ταξινόμηση στη Python.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D9DAF-B8A4-6C70-A890-BC9A92F7334B}"/>
              </a:ext>
            </a:extLst>
          </p:cNvPr>
          <p:cNvSpPr txBox="1"/>
          <p:nvPr/>
        </p:nvSpPr>
        <p:spPr>
          <a:xfrm>
            <a:off x="457200" y="1007911"/>
            <a:ext cx="8054622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Το γραφικό περιβάλλον της εφαρμογής υλοποιείται αποκλειστικά με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Tkinter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και ακολουθεί αυστηρά το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Layered Architecture Pattern.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Το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GUI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αποτελεί το ανώτερο επίπεδο (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Layer 1)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και δεν έχει καμία γνώση για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SQL, DTOs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ή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validators.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Όλη η επικοινωνία γίνεται μέσω της 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BusinessLogic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.</a:t>
            </a:r>
          </a:p>
          <a:p>
            <a:endParaRPr lang="en-US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Η σχεδίαση του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Frontend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βασίζεται σε τέσσερις βασικές αρχές:</a:t>
            </a:r>
          </a:p>
          <a:p>
            <a:pPr marL="228600" indent="-228600">
              <a:buFont typeface="+mj-lt"/>
              <a:buAutoNum type="arabicPeriod"/>
            </a:pPr>
            <a:endParaRPr lang="el-GR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Single Responsibility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ανά σελίδα</a:t>
            </a:r>
          </a:p>
          <a:p>
            <a:pPr marL="228600" indent="-228600">
              <a:buFont typeface="+mj-lt"/>
              <a:buAutoNum type="arabicPeriod"/>
            </a:pPr>
            <a:endParaRPr lang="el-GR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Consistency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σε χρώματα,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fonts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και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layout</a:t>
            </a:r>
          </a:p>
          <a:p>
            <a:pPr marL="228600" indent="-228600">
              <a:buFont typeface="+mj-lt"/>
              <a:buAutoNum type="arabicPeriod"/>
            </a:pPr>
            <a:endParaRPr lang="en-US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Stateless pages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με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reset() hooks</a:t>
            </a:r>
          </a:p>
          <a:p>
            <a:pPr marL="228600" indent="-228600">
              <a:buFont typeface="+mj-lt"/>
              <a:buAutoNum type="arabicPeriod"/>
            </a:pPr>
            <a:endParaRPr lang="en-US" sz="1200" b="1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Απομόνωση των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assets (icons, images) </a:t>
            </a:r>
            <a:r>
              <a:rPr lang="el-GR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σε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resources folder</a:t>
            </a:r>
            <a:endParaRPr lang="en-US" b="1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1CAEFCE7-EBF7-758A-D143-4D2DC17ECBC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Frontend Architecture (GUI Layer)</a:t>
            </a:r>
          </a:p>
        </p:txBody>
      </p:sp>
    </p:spTree>
    <p:extLst>
      <p:ext uri="{BB962C8B-B14F-4D97-AF65-F5344CB8AC3E}">
        <p14:creationId xmlns:p14="http://schemas.microsoft.com/office/powerpoint/2010/main" val="2385023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37E3E-34F3-24AF-9A52-105CC273A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62C273-169B-9FC3-A7E8-2031E3425E3C}"/>
              </a:ext>
            </a:extLst>
          </p:cNvPr>
          <p:cNvSpPr txBox="1"/>
          <p:nvPr/>
        </p:nvSpPr>
        <p:spPr>
          <a:xfrm>
            <a:off x="457200" y="1007911"/>
            <a:ext cx="8054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Ο φάκελος </a:t>
            </a:r>
            <a:r>
              <a:rPr lang="el-GR" sz="1200" dirty="0" err="1">
                <a:solidFill>
                  <a:srgbClr val="1E293B"/>
                </a:solidFill>
                <a:highlight>
                  <a:srgbClr val="C0C0C0"/>
                </a:highlight>
                <a:latin typeface="Calibri" pitchFamily="34" charset="0"/>
                <a:cs typeface="Calibri" pitchFamily="34" charset="-120"/>
              </a:rPr>
              <a:t>gui</a:t>
            </a:r>
            <a:r>
              <a:rPr lang="el-GR" sz="1200" dirty="0">
                <a:solidFill>
                  <a:srgbClr val="1E293B"/>
                </a:solidFill>
                <a:highlight>
                  <a:srgbClr val="C0C0C0"/>
                </a:highlight>
                <a:latin typeface="Calibri" pitchFamily="34" charset="0"/>
                <a:cs typeface="Calibri" pitchFamily="34" charset="-120"/>
              </a:rPr>
              <a:t>/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περιέχει μία σελίδα ανά αρχείο, καθώς και βοηθητικά </a:t>
            </a:r>
            <a:r>
              <a:rPr lang="el-GR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modules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:</a:t>
            </a:r>
            <a:endParaRPr lang="en-US" b="1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5668E33A-0609-4339-DB89-B766B770435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l-GR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Δομή </a:t>
            </a: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Frontend </a:t>
            </a:r>
            <a:r>
              <a:rPr lang="el-GR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Φακέλων</a:t>
            </a:r>
            <a:endParaRPr lang="en-US" sz="2600" b="1" dirty="0">
              <a:solidFill>
                <a:srgbClr val="065A82"/>
              </a:solidFill>
              <a:latin typeface="Calibri" pitchFamily="34" charset="0"/>
              <a:cs typeface="Calibri" pitchFamily="34" charset="-12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AD6A262-BE36-957A-47B9-AD4EA65A8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517425"/>
              </p:ext>
            </p:extLst>
          </p:nvPr>
        </p:nvGraphicFramePr>
        <p:xfrm>
          <a:off x="524933" y="1351139"/>
          <a:ext cx="4876800" cy="2667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21475">
                  <a:extLst>
                    <a:ext uri="{9D8B030D-6E8A-4147-A177-3AD203B41FA5}">
                      <a16:colId xmlns:a16="http://schemas.microsoft.com/office/drawing/2014/main" val="1193177275"/>
                    </a:ext>
                  </a:extLst>
                </a:gridCol>
                <a:gridCol w="3455325">
                  <a:extLst>
                    <a:ext uri="{9D8B030D-6E8A-4147-A177-3AD203B41FA5}">
                      <a16:colId xmlns:a16="http://schemas.microsoft.com/office/drawing/2014/main" val="253180329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gui/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3278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MainTkWindow.py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 dirty="0">
                          <a:effectLst/>
                          <a:latin typeface="Consolas" panose="020B0609020204030204" pitchFamily="49" charset="0"/>
                        </a:rPr>
                        <a:t>Κεντρικό παράθυρο και </a:t>
                      </a:r>
                      <a:r>
                        <a:rPr lang="en-US" sz="1000" u="none" strike="noStrike" dirty="0">
                          <a:effectLst/>
                          <a:latin typeface="Consolas" panose="020B0609020204030204" pitchFamily="49" charset="0"/>
                        </a:rPr>
                        <a:t>routing.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16802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SideBar_Menu.py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Πλαϊνό μενού πλοήγησης.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93574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Styles.py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Ορισμός ttk styles, χρωμάτων και fonts.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748413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resources/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  <a:latin typeface="Consolas" panose="020B0609020204030204" pitchFamily="49" charset="0"/>
                        </a:rPr>
                        <a:t>PNG icons, SVGs, images.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852281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Dashboard_Page.py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KPI cards,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γραφήματα.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361194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Books_Page.py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Αναζήτηση, λίστα, </a:t>
                      </a: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CRUD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βιβλίων.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01284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Book_Edit_Page.py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Φόρμα προσθήκης/ενημέρωσης βιβλίου.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62139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Categories_Page.py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CRUD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κατηγοριών.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986505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Loans_Page.py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Δανεισμός και επιστροφή.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85150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Members_Page.py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CRUD </a:t>
                      </a: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μελών.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014983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Rating_Page.py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 dirty="0">
                          <a:effectLst/>
                          <a:latin typeface="Consolas" panose="020B0609020204030204" pitchFamily="49" charset="0"/>
                        </a:rPr>
                        <a:t>Βαθμολόγηση βιβλίων.</a:t>
                      </a:r>
                      <a:endParaRPr lang="el-GR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569849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Recommend_Page.py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>
                          <a:effectLst/>
                          <a:latin typeface="Consolas" panose="020B0609020204030204" pitchFamily="49" charset="0"/>
                        </a:rPr>
                        <a:t>Προτάσεις ανά μέλος.</a:t>
                      </a:r>
                      <a:endParaRPr lang="el-GR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21912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000" u="none" strike="noStrike">
                          <a:effectLst/>
                          <a:latin typeface="Consolas" panose="020B0609020204030204" pitchFamily="49" charset="0"/>
                        </a:rPr>
                        <a:t>Statistics_Page.py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000" u="none" strike="noStrike" dirty="0">
                          <a:effectLst/>
                          <a:latin typeface="Consolas" panose="020B0609020204030204" pitchFamily="49" charset="0"/>
                        </a:rPr>
                        <a:t>Ενότητες στατιστικών.</a:t>
                      </a:r>
                      <a:endParaRPr lang="el-GR" sz="10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5861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151ABA6-8902-BA20-02F8-BF99DCD72FAB}"/>
              </a:ext>
            </a:extLst>
          </p:cNvPr>
          <p:cNvSpPr txBox="1"/>
          <p:nvPr/>
        </p:nvSpPr>
        <p:spPr>
          <a:xfrm>
            <a:off x="457200" y="4135589"/>
            <a:ext cx="8054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200" dirty="0"/>
              <a:t>Κάθε σελίδα είναι μία κλάση που κληρονομεί από </a:t>
            </a:r>
            <a:r>
              <a:rPr lang="el-GR" sz="1200" dirty="0" err="1"/>
              <a:t>ttk.Frame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481230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41C5-3995-5875-7E6E-6637170B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816DBD-1A79-A07A-B279-A77CDF4BF98E}"/>
              </a:ext>
            </a:extLst>
          </p:cNvPr>
          <p:cNvSpPr txBox="1"/>
          <p:nvPr/>
        </p:nvSpPr>
        <p:spPr>
          <a:xfrm>
            <a:off x="457200" y="657956"/>
            <a:ext cx="80546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Η σχεδίαση του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GUI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ακολουθεί συγκεκριμένες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UX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αρχές:</a:t>
            </a:r>
            <a:endParaRPr lang="en-US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endParaRPr lang="el-GR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Consistent spacing (20px margins, 10px paddings)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Flat modern buttons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χωρίς περιττά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borders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Dark sidebar / light content contrast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για καθαρή οπτική ιεραρχία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Responsive layout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με συνδυασμό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grid/pack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Clear separation of concerns (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κάθε σελίδα κάνει ένα πράγμα)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Minimal cognitive load —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απλές φόρμες, καθαρά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tables,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ξεκάθαρα κουμπιά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Ομοιομορφία σε τίτλους, υπότιτλους και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card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Scrollable pages </a:t>
            </a:r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όπου το περιεχόμενο είναι μεγάλο (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Statistics_Page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)</a:t>
            </a:r>
          </a:p>
          <a:p>
            <a:endParaRPr lang="en-US" sz="1200" dirty="0">
              <a:solidFill>
                <a:srgbClr val="1E293B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l-GR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Αυτές οι αρχές εξασφαλίζουν ότι η εφαρμογή είναι εύχρηστη, καθαρή και συνεπής σε όλο το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UI.</a:t>
            </a:r>
          </a:p>
          <a:p>
            <a:endParaRPr lang="en-US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88EA328D-3CD5-BCB8-F340-554ED58C18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UX</a:t>
            </a:r>
            <a:r>
              <a:rPr lang="en-US" sz="2800" dirty="0"/>
              <a:t> </a:t>
            </a: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cs typeface="Calibri" pitchFamily="34" charset="-120"/>
              </a:rPr>
              <a:t>Guidelines</a:t>
            </a:r>
          </a:p>
        </p:txBody>
      </p:sp>
    </p:spTree>
    <p:extLst>
      <p:ext uri="{BB962C8B-B14F-4D97-AF65-F5344CB8AC3E}">
        <p14:creationId xmlns:p14="http://schemas.microsoft.com/office/powerpoint/2010/main" val="3118078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Αρχική Σελίδα (Dashboard)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dashbo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cards, διάγραμμα δανεισμών 7 ημερών, πίνακας οφειλών (overdue).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Κατάλογος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book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Αναζήτηση σε τίτλο/συγγραφέα/ISBN/κατηγορία, φίλτρα και ταξινόμηση κατά βαθμολογία.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Διαχείριση Μελών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member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 CRUD μελών με auto-generated registration_number.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loa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Επιλογή βιβλίου + μέλους με live filtering. Δανεισμός και επιστροφή σε ίδια σελίδα.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Προτάσεις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claude/screenshots_cropped/recomme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ταξινομημένες κατά score. Άμεσος δανεισμός από εδώ.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Στατιστικά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Πέντε ενότητες ανάλυσης — δανεισμοί ανά μέλος/κατηγορία/συγγραφέα/ηλικία/φύλο.</a:t>
            </a:r>
            <a:endParaRPr lang="en-US" sz="1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6934C7-4796-DDFA-E1D9-E4C0C0FE0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66" y="920044"/>
            <a:ext cx="7653867" cy="364631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Σύνοψη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επίπεδα αρχιτεκτονικής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9202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· Logic · Validation · DAL · DB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12648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πίνακες SQL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2648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FK constraints + transactions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σελίδες GUI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92024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Books, Loans, Members</a:t>
            </a:r>
            <a:r>
              <a:rPr lang="el-GR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12648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εξωτερικές εξαρτήσεις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12648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· pandas · pillow · numpy ·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mplcursors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Ευχαριστούμε για την προσοχή σας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1924</Words>
  <Application>Microsoft Office PowerPoint</Application>
  <PresentationFormat>On-screen Show (16:9)</PresentationFormat>
  <Paragraphs>170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Σύστημα Διαχείρισης Δανειστικής Βιβλιοθήκης</dc:title>
  <dc:subject>PptxGenJS Presentation</dc:subject>
  <dc:creator>EAP ΠΛΗΠΡΟ Project 31</dc:creator>
  <cp:lastModifiedBy>t44601</cp:lastModifiedBy>
  <cp:revision>17</cp:revision>
  <dcterms:created xsi:type="dcterms:W3CDTF">2026-05-17T10:16:33Z</dcterms:created>
  <dcterms:modified xsi:type="dcterms:W3CDTF">2026-05-29T17:26:14Z</dcterms:modified>
</cp:coreProperties>
</file>